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257" r:id="rId4"/>
    <p:sldId id="258" r:id="rId5"/>
    <p:sldId id="259" r:id="rId6"/>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fld id="{5A40EAB5-845B-4B35-B574-7B4A882095E8}" type="slidenum">
              <a:rPr lang="en-US" altLang="en-US"/>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FF0000"/>
                </a:solidFill>
              </a:rPr>
              <a:t>EEE 3207 ELECTRICAL MACHINES 2</a:t>
            </a:r>
            <a:endParaRPr lang="en-US" b="1" dirty="0">
              <a:solidFill>
                <a:srgbClr val="FF0000"/>
              </a:solidFill>
            </a:endParaRPr>
          </a:p>
        </p:txBody>
      </p:sp>
      <p:sp>
        <p:nvSpPr>
          <p:cNvPr id="3" name="Subtitle 2"/>
          <p:cNvSpPr>
            <a:spLocks noGrp="1"/>
          </p:cNvSpPr>
          <p:nvPr>
            <p:ph type="subTitle" idx="1"/>
          </p:nvPr>
        </p:nvSpPr>
        <p:spPr/>
        <p:txBody>
          <a:bodyPr/>
          <a:lstStyle/>
          <a:p>
            <a:r>
              <a:rPr lang="en-US" b="1"/>
              <a:t>LECTURE 1 AND 2</a:t>
            </a:r>
            <a:endParaRPr lang="en-US"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algn="ctr"/>
            <a:r>
              <a:rPr lang="en-US" altLang="en-US" sz="4200" b="1">
                <a:latin typeface="Times New Roman" panose="02020603050405020304" pitchFamily="18" charset="0"/>
                <a:cs typeface="Times New Roman" panose="02020603050405020304" pitchFamily="18" charset="0"/>
              </a:rPr>
              <a:t>Three Phase Transformers</a:t>
            </a:r>
            <a:endParaRPr lang="en-US" altLang="en-US" sz="4200" b="1">
              <a:latin typeface="Times New Roman" panose="02020603050405020304" pitchFamily="18" charset="0"/>
              <a:cs typeface="Times New Roman" panose="02020603050405020304" pitchFamily="18" charset="0"/>
            </a:endParaRPr>
          </a:p>
        </p:txBody>
      </p:sp>
      <p:sp>
        <p:nvSpPr>
          <p:cNvPr id="16387" name="Content Placeholder 2"/>
          <p:cNvSpPr>
            <a:spLocks noGrp="1"/>
          </p:cNvSpPr>
          <p:nvPr>
            <p:ph idx="1"/>
          </p:nvPr>
        </p:nvSpPr>
        <p:spPr>
          <a:xfrm>
            <a:off x="1077913" y="1174750"/>
            <a:ext cx="9880600" cy="5513388"/>
          </a:xfrm>
        </p:spPr>
        <p:txBody>
          <a:bodyPr>
            <a:normAutofit lnSpcReduction="10000"/>
          </a:bodyPr>
          <a:lstStyle/>
          <a:p>
            <a:pPr algn="just">
              <a:lnSpc>
                <a:spcPct val="150000"/>
              </a:lnSpc>
            </a:pPr>
            <a:r>
              <a:rPr lang="en-US" altLang="en-US" sz="2300">
                <a:latin typeface="Times New Roman" panose="02020603050405020304" pitchFamily="18" charset="0"/>
                <a:cs typeface="Times New Roman" panose="02020603050405020304" pitchFamily="18" charset="0"/>
              </a:rPr>
              <a:t>A three-phase system in used to generate and transmit electric power. </a:t>
            </a:r>
            <a:endParaRPr lang="en-US" altLang="en-US" sz="2300">
              <a:latin typeface="Times New Roman" panose="02020603050405020304" pitchFamily="18" charset="0"/>
              <a:cs typeface="Times New Roman" panose="02020603050405020304" pitchFamily="18" charset="0"/>
            </a:endParaRPr>
          </a:p>
          <a:p>
            <a:pPr algn="just">
              <a:lnSpc>
                <a:spcPct val="150000"/>
              </a:lnSpc>
            </a:pPr>
            <a:r>
              <a:rPr lang="en-US" altLang="en-US" sz="2300">
                <a:latin typeface="Times New Roman" panose="02020603050405020304" pitchFamily="18" charset="0"/>
                <a:cs typeface="Times New Roman" panose="02020603050405020304" pitchFamily="18" charset="0"/>
              </a:rPr>
              <a:t>Three phase voltages are raised or lowered by means of three-phase transformers. </a:t>
            </a:r>
            <a:endParaRPr lang="en-US" altLang="en-US" sz="2300">
              <a:latin typeface="Times New Roman" panose="02020603050405020304" pitchFamily="18" charset="0"/>
              <a:cs typeface="Times New Roman" panose="02020603050405020304" pitchFamily="18" charset="0"/>
            </a:endParaRPr>
          </a:p>
          <a:p>
            <a:pPr algn="just">
              <a:lnSpc>
                <a:spcPct val="150000"/>
              </a:lnSpc>
            </a:pPr>
            <a:r>
              <a:rPr lang="en-US" altLang="en-US" sz="2300">
                <a:latin typeface="Times New Roman" panose="02020603050405020304" pitchFamily="18" charset="0"/>
                <a:cs typeface="Times New Roman" panose="02020603050405020304" pitchFamily="18" charset="0"/>
              </a:rPr>
              <a:t>A three-phase transformer can be built in two ways viz.,</a:t>
            </a:r>
            <a:endParaRPr lang="en-US" altLang="en-US" sz="2300">
              <a:latin typeface="Times New Roman" panose="02020603050405020304" pitchFamily="18" charset="0"/>
              <a:cs typeface="Times New Roman" panose="02020603050405020304" pitchFamily="18" charset="0"/>
            </a:endParaRPr>
          </a:p>
          <a:p>
            <a:pPr marL="936625" lvl="1" indent="-571500" algn="just">
              <a:lnSpc>
                <a:spcPct val="150000"/>
              </a:lnSpc>
              <a:buFontTx/>
              <a:buAutoNum type="romanLcPeriod"/>
            </a:pPr>
            <a:r>
              <a:rPr lang="en-US" altLang="en-US" sz="2300">
                <a:latin typeface="Times New Roman" panose="02020603050405020304" pitchFamily="18" charset="0"/>
                <a:cs typeface="Times New Roman" panose="02020603050405020304" pitchFamily="18" charset="0"/>
              </a:rPr>
              <a:t>by suitably connecting a </a:t>
            </a:r>
            <a:r>
              <a:rPr lang="en-US" altLang="en-US" sz="2300" b="1">
                <a:latin typeface="Times New Roman" panose="02020603050405020304" pitchFamily="18" charset="0"/>
                <a:cs typeface="Times New Roman" panose="02020603050405020304" pitchFamily="18" charset="0"/>
              </a:rPr>
              <a:t>bank of three single-phase</a:t>
            </a:r>
            <a:r>
              <a:rPr lang="en-US" altLang="en-US" sz="2300">
                <a:latin typeface="Times New Roman" panose="02020603050405020304" pitchFamily="18" charset="0"/>
                <a:cs typeface="Times New Roman" panose="02020603050405020304" pitchFamily="18" charset="0"/>
              </a:rPr>
              <a:t> transformers or </a:t>
            </a:r>
            <a:endParaRPr lang="en-US" altLang="en-US" sz="2300">
              <a:latin typeface="Times New Roman" panose="02020603050405020304" pitchFamily="18" charset="0"/>
              <a:cs typeface="Times New Roman" panose="02020603050405020304" pitchFamily="18" charset="0"/>
            </a:endParaRPr>
          </a:p>
          <a:p>
            <a:pPr marL="936625" lvl="1" indent="-571500" algn="just">
              <a:lnSpc>
                <a:spcPct val="150000"/>
              </a:lnSpc>
              <a:buFontTx/>
              <a:buAutoNum type="romanLcPeriod"/>
            </a:pPr>
            <a:r>
              <a:rPr lang="en-US" altLang="en-US" sz="2300">
                <a:latin typeface="Times New Roman" panose="02020603050405020304" pitchFamily="18" charset="0"/>
                <a:cs typeface="Times New Roman" panose="02020603050405020304" pitchFamily="18" charset="0"/>
              </a:rPr>
              <a:t>by constructing a </a:t>
            </a:r>
            <a:r>
              <a:rPr lang="en-US" altLang="en-US" sz="2300" b="1">
                <a:latin typeface="Times New Roman" panose="02020603050405020304" pitchFamily="18" charset="0"/>
                <a:cs typeface="Times New Roman" panose="02020603050405020304" pitchFamily="18" charset="0"/>
              </a:rPr>
              <a:t>three-phase</a:t>
            </a:r>
            <a:r>
              <a:rPr lang="en-US" altLang="en-US" sz="2300">
                <a:latin typeface="Times New Roman" panose="02020603050405020304" pitchFamily="18" charset="0"/>
                <a:cs typeface="Times New Roman" panose="02020603050405020304" pitchFamily="18" charset="0"/>
              </a:rPr>
              <a:t> transformer on a common magnetic structure. </a:t>
            </a:r>
            <a:endParaRPr lang="en-US" altLang="en-US" sz="2300">
              <a:latin typeface="Times New Roman" panose="02020603050405020304" pitchFamily="18" charset="0"/>
              <a:cs typeface="Times New Roman" panose="02020603050405020304" pitchFamily="18" charset="0"/>
            </a:endParaRPr>
          </a:p>
          <a:p>
            <a:pPr algn="just">
              <a:lnSpc>
                <a:spcPct val="150000"/>
              </a:lnSpc>
            </a:pPr>
            <a:r>
              <a:rPr lang="en-US" altLang="en-US" sz="2300">
                <a:latin typeface="Times New Roman" panose="02020603050405020304" pitchFamily="18" charset="0"/>
                <a:cs typeface="Times New Roman" panose="02020603050405020304" pitchFamily="18" charset="0"/>
              </a:rPr>
              <a:t>In either case, the windings may be connected in Y-Y, </a:t>
            </a:r>
            <a:r>
              <a:rPr lang="en-US" altLang="en-US" sz="2300">
                <a:latin typeface="Times New Roman" panose="02020603050405020304" pitchFamily="18" charset="0"/>
                <a:cs typeface="Times New Roman" panose="02020603050405020304" pitchFamily="18" charset="0"/>
                <a:sym typeface="Symbol" panose="05050102010706020507" pitchFamily="18" charset="2"/>
              </a:rPr>
              <a:t></a:t>
            </a:r>
            <a:r>
              <a:rPr lang="en-US" altLang="en-US" sz="2300">
                <a:latin typeface="Times New Roman" panose="02020603050405020304" pitchFamily="18" charset="0"/>
                <a:cs typeface="Times New Roman" panose="02020603050405020304" pitchFamily="18" charset="0"/>
              </a:rPr>
              <a:t> - </a:t>
            </a:r>
            <a:r>
              <a:rPr lang="en-US" altLang="en-US" sz="230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300">
                <a:latin typeface="Times New Roman" panose="02020603050405020304" pitchFamily="18" charset="0"/>
                <a:cs typeface="Times New Roman" panose="02020603050405020304" pitchFamily="18" charset="0"/>
              </a:rPr>
              <a:t>, Y – </a:t>
            </a:r>
            <a:r>
              <a:rPr lang="en-US" altLang="en-US" sz="230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300">
                <a:latin typeface="Times New Roman" panose="02020603050405020304" pitchFamily="18" charset="0"/>
                <a:cs typeface="Times New Roman" panose="02020603050405020304" pitchFamily="18" charset="0"/>
              </a:rPr>
              <a:t> or </a:t>
            </a:r>
            <a:r>
              <a:rPr lang="en-US" altLang="en-US" sz="230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300">
                <a:latin typeface="Times New Roman" panose="02020603050405020304" pitchFamily="18" charset="0"/>
                <a:cs typeface="Times New Roman" panose="02020603050405020304" pitchFamily="18" charset="0"/>
              </a:rPr>
              <a:t> -Y. </a:t>
            </a:r>
            <a:endParaRPr lang="en-US" altLang="en-US" sz="2300">
              <a:latin typeface="Times New Roman" panose="02020603050405020304" pitchFamily="18" charset="0"/>
              <a:cs typeface="Times New Roman" panose="02020603050405020304" pitchFamily="18" charset="0"/>
            </a:endParaRPr>
          </a:p>
          <a:p>
            <a:pPr algn="just">
              <a:lnSpc>
                <a:spcPct val="150000"/>
              </a:lnSpc>
            </a:pPr>
            <a:r>
              <a:rPr lang="en-US" altLang="en-US" sz="2300">
                <a:latin typeface="Times New Roman" panose="02020603050405020304" pitchFamily="18" charset="0"/>
                <a:cs typeface="Times New Roman" panose="02020603050405020304" pitchFamily="18" charset="0"/>
              </a:rPr>
              <a:t>Y-Wye (Star) &amp; </a:t>
            </a:r>
            <a:r>
              <a:rPr lang="en-US" altLang="en-US" sz="2300">
                <a:solidFill>
                  <a:srgbClr val="000000"/>
                </a:solidFill>
                <a:latin typeface="Times New Roman" panose="02020603050405020304" pitchFamily="18" charset="0"/>
                <a:cs typeface="Times New Roman" panose="02020603050405020304" pitchFamily="18" charset="0"/>
                <a:sym typeface="Symbol" panose="05050102010706020507" pitchFamily="18" charset="2"/>
              </a:rPr>
              <a:t>-Delta</a:t>
            </a:r>
            <a:endParaRPr lang="en-US" altLang="en-US" sz="2300">
              <a:latin typeface="Times New Roman" panose="02020603050405020304" pitchFamily="18" charset="0"/>
              <a:cs typeface="Times New Roman" panose="02020603050405020304" pitchFamily="18" charset="0"/>
            </a:endParaRPr>
          </a:p>
          <a:p>
            <a:pPr algn="just"/>
            <a:endParaRPr lang="en-US" altLang="en-US" sz="300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762000"/>
          </a:xfrm>
        </p:spPr>
        <p:txBody>
          <a:bodyPr>
            <a:normAutofit fontScale="90000"/>
          </a:bodyPr>
          <a:lstStyle/>
          <a:p>
            <a:pPr algn="ctr">
              <a:defRPr/>
            </a:pPr>
            <a:r>
              <a:rPr lang="en-US" sz="4600" dirty="0">
                <a:latin typeface="Times New Roman" panose="02020603050405020304" pitchFamily="18" charset="0"/>
                <a:cs typeface="Times New Roman" panose="02020603050405020304" pitchFamily="18" charset="0"/>
              </a:rPr>
              <a:t>One unit 3phase Transformer</a:t>
            </a:r>
            <a:endParaRPr lang="en-US" sz="4600" dirty="0">
              <a:latin typeface="Times New Roman" panose="02020603050405020304" pitchFamily="18" charset="0"/>
              <a:cs typeface="Times New Roman" panose="02020603050405020304" pitchFamily="18" charset="0"/>
            </a:endParaRPr>
          </a:p>
        </p:txBody>
      </p:sp>
      <p:sp>
        <p:nvSpPr>
          <p:cNvPr id="17411" name="Content Placeholder 2"/>
          <p:cNvSpPr>
            <a:spLocks noGrp="1"/>
          </p:cNvSpPr>
          <p:nvPr>
            <p:ph idx="1"/>
          </p:nvPr>
        </p:nvSpPr>
        <p:spPr>
          <a:xfrm>
            <a:off x="1162050" y="1133475"/>
            <a:ext cx="9742488" cy="5465763"/>
          </a:xfrm>
        </p:spPr>
        <p:txBody>
          <a:bodyPr>
            <a:normAutofit lnSpcReduction="10000"/>
          </a:bodyPr>
          <a:lstStyle/>
          <a:p>
            <a:pPr algn="just"/>
            <a:r>
              <a:rPr lang="en-US" altLang="en-US" sz="2200">
                <a:latin typeface="Times New Roman" panose="02020603050405020304" pitchFamily="18" charset="0"/>
              </a:rPr>
              <a:t>A three-phase transformer can be constructed by having three primary and three secondary windings on a common magnetic circuit. The basic principle of a 3-phase transformer is illustrated in Fig. (i). </a:t>
            </a:r>
            <a:endParaRPr lang="en-US" altLang="en-US" sz="2200">
              <a:latin typeface="Times New Roman" panose="02020603050405020304" pitchFamily="18" charset="0"/>
            </a:endParaRPr>
          </a:p>
          <a:p>
            <a:pPr algn="just"/>
            <a:endParaRPr lang="en-US" altLang="en-US" sz="2200">
              <a:latin typeface="Times New Roman" panose="02020603050405020304" pitchFamily="18" charset="0"/>
            </a:endParaRPr>
          </a:p>
          <a:p>
            <a:pPr algn="just"/>
            <a:r>
              <a:rPr lang="en-US" altLang="en-US" sz="2200">
                <a:latin typeface="Times New Roman" panose="02020603050405020304" pitchFamily="18" charset="0"/>
              </a:rPr>
              <a:t>The three single-phase core type transformers, each with windings (primary and secondary) on only one leg have their unwound legs combined to provide a path for the returning flux. </a:t>
            </a:r>
            <a:endParaRPr lang="en-US" altLang="en-US" sz="2200">
              <a:latin typeface="Times New Roman" panose="02020603050405020304" pitchFamily="18" charset="0"/>
            </a:endParaRPr>
          </a:p>
          <a:p>
            <a:pPr algn="just"/>
            <a:endParaRPr lang="en-US" altLang="en-US" sz="2200">
              <a:latin typeface="Times New Roman" panose="02020603050405020304" pitchFamily="18" charset="0"/>
            </a:endParaRPr>
          </a:p>
          <a:p>
            <a:pPr algn="just"/>
            <a:r>
              <a:rPr lang="en-US" altLang="en-US" sz="2200">
                <a:latin typeface="Times New Roman" panose="02020603050405020304" pitchFamily="18" charset="0"/>
              </a:rPr>
              <a:t>The primaries as well as secondaries may be connected in star or delta. If the primary is energized from a 3-phase supply, the central limb (i.e., unwound limb) carries the fluxes produced by the 3-phase primary windings. </a:t>
            </a:r>
            <a:endParaRPr lang="en-US" altLang="en-US" sz="2200">
              <a:latin typeface="Times New Roman" panose="02020603050405020304" pitchFamily="18" charset="0"/>
            </a:endParaRPr>
          </a:p>
          <a:p>
            <a:pPr algn="just"/>
            <a:r>
              <a:rPr lang="en-US" altLang="en-US" sz="2200">
                <a:latin typeface="Times New Roman" panose="02020603050405020304" pitchFamily="18" charset="0"/>
              </a:rPr>
              <a:t>Since the phasor sum of three primary currents at any instant is zero, the sum of three fluxes passing through the central limb must be zero. </a:t>
            </a:r>
            <a:endParaRPr lang="en-US" altLang="en-US" sz="2200">
              <a:latin typeface="Times New Roman" panose="02020603050405020304" pitchFamily="18" charset="0"/>
            </a:endParaRPr>
          </a:p>
          <a:p>
            <a:pPr algn="just"/>
            <a:r>
              <a:rPr lang="en-US" altLang="en-US" sz="2200">
                <a:latin typeface="Times New Roman" panose="02020603050405020304" pitchFamily="18" charset="0"/>
              </a:rPr>
              <a:t>Hence no flux exists in the central limb therefore.</a:t>
            </a:r>
            <a:endParaRPr lang="en-US" altLang="en-US" sz="2200"/>
          </a:p>
        </p:txBody>
      </p:sp>
      <p:sp>
        <p:nvSpPr>
          <p:cNvPr id="17412"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fld id="{E0F85046-021E-4274-A1D8-FFC386A95796}" type="slidenum">
              <a:rPr lang="en-US" altLang="en-US" sz="2700">
                <a:solidFill>
                  <a:srgbClr val="045C75"/>
                </a:solidFill>
                <a:latin typeface="Times New Roman" panose="02020603050405020304" pitchFamily="18" charset="0"/>
                <a:cs typeface="Times New Roman" panose="02020603050405020304" pitchFamily="18" charset="0"/>
              </a:rPr>
            </a:fld>
            <a:endParaRPr lang="en-US" altLang="en-US" sz="2700">
              <a:solidFill>
                <a:srgbClr val="045C7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1176338" y="53975"/>
            <a:ext cx="5781675" cy="6599238"/>
          </a:xfrm>
        </p:spPr>
        <p:txBody>
          <a:bodyPr>
            <a:normAutofit/>
          </a:bodyPr>
          <a:lstStyle/>
          <a:p>
            <a:pPr algn="just">
              <a:lnSpc>
                <a:spcPct val="150000"/>
              </a:lnSpc>
            </a:pPr>
            <a:r>
              <a:rPr lang="en-US" altLang="en-US" sz="2200">
                <a:latin typeface="Times New Roman" panose="02020603050405020304" pitchFamily="18" charset="0"/>
              </a:rPr>
              <a:t>Hence no flux exists in the central limb and it may, therefore, be eliminated. </a:t>
            </a:r>
            <a:endParaRPr lang="en-US" altLang="en-US" sz="2200">
              <a:latin typeface="Times New Roman" panose="02020603050405020304" pitchFamily="18" charset="0"/>
            </a:endParaRPr>
          </a:p>
          <a:p>
            <a:pPr algn="just">
              <a:lnSpc>
                <a:spcPct val="150000"/>
              </a:lnSpc>
              <a:spcBef>
                <a:spcPct val="0"/>
              </a:spcBef>
            </a:pPr>
            <a:r>
              <a:rPr lang="en-US" altLang="en-US" sz="2200">
                <a:latin typeface="Times New Roman" panose="02020603050405020304" pitchFamily="18" charset="0"/>
              </a:rPr>
              <a:t>This modification gives a three leg core type 3-phase transformer. </a:t>
            </a:r>
            <a:endParaRPr lang="en-US" altLang="en-US" sz="2200">
              <a:latin typeface="Times New Roman" panose="02020603050405020304" pitchFamily="18" charset="0"/>
            </a:endParaRPr>
          </a:p>
          <a:p>
            <a:pPr algn="just">
              <a:spcBef>
                <a:spcPct val="0"/>
              </a:spcBef>
            </a:pPr>
            <a:r>
              <a:rPr lang="en-US" altLang="en-US" sz="2200">
                <a:latin typeface="Times New Roman" panose="02020603050405020304" pitchFamily="18" charset="0"/>
              </a:rPr>
              <a:t>In this case, any two legs will act as a return path for the flux in the third leg. {Fig ii}</a:t>
            </a:r>
            <a:r>
              <a:rPr lang="en-US" altLang="en-US" sz="2200">
                <a:solidFill>
                  <a:srgbClr val="000000"/>
                </a:solidFill>
                <a:latin typeface="Times New Roman" panose="02020603050405020304" pitchFamily="18" charset="0"/>
              </a:rPr>
              <a:t> Eg, if flux is </a:t>
            </a:r>
            <a:r>
              <a:rPr lang="en-US" altLang="en-US" sz="2200">
                <a:solidFill>
                  <a:srgbClr val="000000"/>
                </a:solidFill>
                <a:latin typeface="Symbol" panose="05050102010706020507" pitchFamily="18" charset="2"/>
              </a:rPr>
              <a:t>f </a:t>
            </a:r>
            <a:r>
              <a:rPr lang="en-US" altLang="en-US" sz="2200">
                <a:solidFill>
                  <a:srgbClr val="000000"/>
                </a:solidFill>
                <a:latin typeface="Times New Roman" panose="02020603050405020304" pitchFamily="18" charset="0"/>
              </a:rPr>
              <a:t>in one leg at some instant, then flux is </a:t>
            </a:r>
            <a:r>
              <a:rPr lang="en-US" altLang="en-US" sz="2200">
                <a:solidFill>
                  <a:srgbClr val="000000"/>
                </a:solidFill>
                <a:latin typeface="Symbol" panose="05050102010706020507" pitchFamily="18" charset="2"/>
              </a:rPr>
              <a:t>f</a:t>
            </a:r>
            <a:r>
              <a:rPr lang="en-US" altLang="en-US" sz="2200">
                <a:solidFill>
                  <a:srgbClr val="000000"/>
                </a:solidFill>
                <a:latin typeface="Times New Roman" panose="02020603050405020304" pitchFamily="18" charset="0"/>
              </a:rPr>
              <a:t>/2 in the opposite direction through the other two legs at the same instant</a:t>
            </a:r>
            <a:endParaRPr lang="en-US" altLang="en-US" sz="2200">
              <a:latin typeface="Times New Roman" panose="02020603050405020304" pitchFamily="18" charset="0"/>
            </a:endParaRPr>
          </a:p>
          <a:p>
            <a:pPr algn="just">
              <a:lnSpc>
                <a:spcPct val="150000"/>
              </a:lnSpc>
            </a:pPr>
            <a:r>
              <a:rPr lang="en-US" altLang="en-US" sz="2200">
                <a:latin typeface="Times New Roman" panose="02020603050405020304" pitchFamily="18" charset="0"/>
              </a:rPr>
              <a:t>All the connections of a 3-phase transformer are made inside the case and for delta-connected winding three leads are brought out while for star connected winding four leads are brought out.</a:t>
            </a:r>
            <a:endParaRPr lang="en-US" altLang="en-US" sz="2200"/>
          </a:p>
        </p:txBody>
      </p:sp>
      <p:sp>
        <p:nvSpPr>
          <p:cNvPr id="18435"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fld id="{DD0A64EC-631A-44ED-816D-A8821FC8D561}" type="slidenum">
              <a:rPr lang="en-US" altLang="en-US" sz="2700">
                <a:solidFill>
                  <a:srgbClr val="045C75"/>
                </a:solidFill>
                <a:latin typeface="Times New Roman" panose="02020603050405020304" pitchFamily="18" charset="0"/>
                <a:cs typeface="Times New Roman" panose="02020603050405020304" pitchFamily="18" charset="0"/>
              </a:rPr>
            </a:fld>
            <a:endParaRPr lang="en-US" altLang="en-US" sz="2700">
              <a:solidFill>
                <a:srgbClr val="045C75"/>
              </a:solidFill>
              <a:latin typeface="Times New Roman" panose="02020603050405020304" pitchFamily="18" charset="0"/>
              <a:cs typeface="Times New Roman" panose="02020603050405020304" pitchFamily="18" charset="0"/>
            </a:endParaRPr>
          </a:p>
        </p:txBody>
      </p:sp>
      <p:pic>
        <p:nvPicPr>
          <p:cNvPr id="18436" name="Picture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958013" y="0"/>
            <a:ext cx="4505325"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Content Placeholder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958013" y="3749675"/>
            <a:ext cx="4505325"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algn="ctr"/>
            <a:r>
              <a:rPr lang="en-US" altLang="en-US" sz="3400">
                <a:latin typeface="Times New Roman" panose="02020603050405020304" pitchFamily="18" charset="0"/>
                <a:cs typeface="Times New Roman" panose="02020603050405020304" pitchFamily="18" charset="0"/>
              </a:rPr>
              <a:t>Advantages of 3 phase transformers</a:t>
            </a:r>
            <a:endParaRPr lang="en-US" altLang="en-US" sz="3400">
              <a:latin typeface="Times New Roman" panose="02020603050405020304" pitchFamily="18" charset="0"/>
              <a:cs typeface="Times New Roman" panose="02020603050405020304" pitchFamily="18" charset="0"/>
            </a:endParaRPr>
          </a:p>
        </p:txBody>
      </p:sp>
      <p:sp>
        <p:nvSpPr>
          <p:cNvPr id="20483" name="Content Placeholder 4"/>
          <p:cNvSpPr>
            <a:spLocks noGrp="1"/>
          </p:cNvSpPr>
          <p:nvPr>
            <p:ph idx="1"/>
          </p:nvPr>
        </p:nvSpPr>
        <p:spPr>
          <a:xfrm>
            <a:off x="1077913" y="1174750"/>
            <a:ext cx="9867900" cy="5540375"/>
          </a:xfrm>
        </p:spPr>
        <p:txBody>
          <a:bodyPr>
            <a:normAutofit/>
          </a:bodyPr>
          <a:lstStyle/>
          <a:p>
            <a:pPr marL="273050" indent="-273050" algn="just" eaLnBrk="1" hangingPunct="1">
              <a:buClr>
                <a:srgbClr val="0BD0D9"/>
              </a:buClr>
              <a:buSzPct val="95000"/>
              <a:buFont typeface="Wingdings 2" panose="05020102010507070707" pitchFamily="18" charset="2"/>
              <a:buChar char=""/>
            </a:pPr>
            <a:r>
              <a:rPr lang="en-US" altLang="en-US" sz="2200">
                <a:solidFill>
                  <a:srgbClr val="000000"/>
                </a:solidFill>
                <a:latin typeface="Times New Roman" panose="02020603050405020304" pitchFamily="18" charset="0"/>
              </a:rPr>
              <a:t>For the same capacity, a 3-phase transformer weighs less, occupies less space and costs about 20% less than a bank of three single-phase transformers.</a:t>
            </a:r>
            <a:endParaRPr lang="en-US" altLang="en-US" sz="2200">
              <a:solidFill>
                <a:srgbClr val="000000"/>
              </a:solidFill>
              <a:latin typeface="Times New Roman" panose="02020603050405020304" pitchFamily="18" charset="0"/>
            </a:endParaRPr>
          </a:p>
          <a:p>
            <a:pPr marL="273050" indent="-273050" algn="just" eaLnBrk="1" hangingPunct="1">
              <a:buClr>
                <a:srgbClr val="0BD0D9"/>
              </a:buClr>
              <a:buSzPct val="95000"/>
              <a:buFont typeface="Wingdings 2" panose="05020102010507070707" pitchFamily="18" charset="2"/>
              <a:buChar char=""/>
            </a:pPr>
            <a:r>
              <a:rPr lang="en-US" altLang="en-US" sz="2200">
                <a:solidFill>
                  <a:srgbClr val="000000"/>
                </a:solidFill>
                <a:latin typeface="Times New Roman" panose="02020603050405020304" pitchFamily="18" charset="0"/>
              </a:rPr>
              <a:t>Because of these advantages, 3-phase transformers are in common use, especially for large power transformations.</a:t>
            </a:r>
            <a:endParaRPr lang="en-US" altLang="en-US" sz="2200">
              <a:solidFill>
                <a:srgbClr val="000000"/>
              </a:solidFill>
              <a:latin typeface="Times New Roman" panose="02020603050405020304" pitchFamily="18" charset="0"/>
            </a:endParaRPr>
          </a:p>
          <a:p>
            <a:pPr marL="273050" indent="-273050" algn="just" eaLnBrk="1" hangingPunct="1">
              <a:buClr>
                <a:srgbClr val="0BD0D9"/>
              </a:buClr>
              <a:buSzPct val="95000"/>
              <a:buFont typeface="Wingdings 2" panose="05020102010507070707" pitchFamily="18" charset="2"/>
              <a:buChar char=""/>
            </a:pPr>
            <a:r>
              <a:rPr lang="en-US" altLang="en-US" sz="2200">
                <a:solidFill>
                  <a:srgbClr val="000000"/>
                </a:solidFill>
                <a:latin typeface="Times New Roman" panose="02020603050405020304" pitchFamily="18" charset="0"/>
              </a:rPr>
              <a:t>A </a:t>
            </a:r>
            <a:r>
              <a:rPr lang="en-US" altLang="en-US" sz="2200" b="1">
                <a:solidFill>
                  <a:srgbClr val="000000"/>
                </a:solidFill>
                <a:latin typeface="Times New Roman" panose="02020603050405020304" pitchFamily="18" charset="0"/>
              </a:rPr>
              <a:t>disadvantage</a:t>
            </a:r>
            <a:r>
              <a:rPr lang="en-US" altLang="en-US" sz="2200">
                <a:solidFill>
                  <a:srgbClr val="000000"/>
                </a:solidFill>
                <a:latin typeface="Times New Roman" panose="02020603050405020304" pitchFamily="18" charset="0"/>
              </a:rPr>
              <a:t> of the three-phase transformer lies in the fact that when one phase becomes defective, the entire three-phase unit must be removed from service. </a:t>
            </a:r>
            <a:endParaRPr lang="en-US" altLang="en-US" sz="2200">
              <a:solidFill>
                <a:srgbClr val="000000"/>
              </a:solidFill>
              <a:latin typeface="Times New Roman" panose="02020603050405020304" pitchFamily="18" charset="0"/>
            </a:endParaRPr>
          </a:p>
          <a:p>
            <a:pPr marL="273050" indent="-273050" algn="just" eaLnBrk="1" hangingPunct="1">
              <a:buClr>
                <a:srgbClr val="0BD0D9"/>
              </a:buClr>
              <a:buSzPct val="95000"/>
              <a:buFont typeface="Wingdings 2" panose="05020102010507070707" pitchFamily="18" charset="2"/>
              <a:buChar char=""/>
            </a:pPr>
            <a:endParaRPr lang="en-US" altLang="en-US" sz="2200">
              <a:solidFill>
                <a:srgbClr val="000000"/>
              </a:solidFill>
              <a:latin typeface="Times New Roman" panose="02020603050405020304" pitchFamily="18" charset="0"/>
            </a:endParaRPr>
          </a:p>
          <a:p>
            <a:pPr marL="273050" indent="-273050" algn="just" eaLnBrk="1" hangingPunct="1">
              <a:buClr>
                <a:srgbClr val="0BD0D9"/>
              </a:buClr>
              <a:buSzPct val="95000"/>
              <a:buFont typeface="Wingdings 2" panose="05020102010507070707" pitchFamily="18" charset="2"/>
              <a:buChar char=""/>
            </a:pPr>
            <a:r>
              <a:rPr lang="en-US" altLang="en-US" sz="2200">
                <a:solidFill>
                  <a:srgbClr val="000000"/>
                </a:solidFill>
                <a:latin typeface="Times New Roman" panose="02020603050405020304" pitchFamily="18" charset="0"/>
              </a:rPr>
              <a:t>When one transformer in a bank of three single-phase transformers becomes defective, it may be removed from service and the other two transformers may be reconnected to supply service on an emergency basis until repairs can be made.</a:t>
            </a:r>
            <a:endParaRPr lang="en-US" altLang="en-US" sz="2200">
              <a:solidFill>
                <a:srgbClr val="000000"/>
              </a:solidFill>
              <a:latin typeface="Constantia" panose="02030602050306030303" pitchFamily="18" charset="0"/>
            </a:endParaRPr>
          </a:p>
          <a:p>
            <a:pPr marL="273050" indent="-273050" algn="just" eaLnBrk="1" hangingPunct="1">
              <a:buClr>
                <a:srgbClr val="0BD0D9"/>
              </a:buClr>
              <a:buSzPct val="95000"/>
              <a:buFont typeface="Wingdings 2" panose="05020102010507070707" pitchFamily="18" charset="2"/>
              <a:buChar char=""/>
            </a:pPr>
            <a:r>
              <a:rPr lang="en-US" altLang="en-US" sz="2200">
                <a:solidFill>
                  <a:srgbClr val="000000"/>
                </a:solidFill>
                <a:latin typeface="Times New Roman" panose="02020603050405020304" pitchFamily="18" charset="0"/>
                <a:sym typeface="Arial" panose="020B0604020202020204" pitchFamily="34" charset="0"/>
              </a:rPr>
              <a:t>There is little difference in reliability, but it is cheaper to carry spare stock of a single-phase rather than a three-phase transformer. In underground use (mines) a bank of single-phase units may be preferred as it is easier to transport these units.</a:t>
            </a:r>
            <a:endParaRPr lang="en-US" altLang="en-US" sz="2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1952625" y="152400"/>
            <a:ext cx="8229600" cy="666750"/>
          </a:xfrm>
        </p:spPr>
        <p:txBody>
          <a:bodyPr>
            <a:normAutofit fontScale="90000"/>
          </a:bodyPr>
          <a:lstStyle/>
          <a:p>
            <a:pPr algn="just"/>
            <a:r>
              <a:rPr lang="en-US" altLang="en-US" sz="3800" b="1">
                <a:latin typeface="Times New Roman" panose="02020603050405020304" pitchFamily="18" charset="0"/>
              </a:rPr>
              <a:t>Three-Phase Transformer Connections</a:t>
            </a:r>
            <a:endParaRPr lang="en-US" altLang="en-US" sz="3800"/>
          </a:p>
        </p:txBody>
      </p:sp>
      <p:sp>
        <p:nvSpPr>
          <p:cNvPr id="21507" name="Content Placeholder 2"/>
          <p:cNvSpPr>
            <a:spLocks noGrp="1"/>
          </p:cNvSpPr>
          <p:nvPr>
            <p:ph idx="1"/>
          </p:nvPr>
        </p:nvSpPr>
        <p:spPr>
          <a:xfrm>
            <a:off x="1106488" y="1127125"/>
            <a:ext cx="9825037" cy="5730875"/>
          </a:xfrm>
        </p:spPr>
        <p:txBody>
          <a:bodyPr>
            <a:normAutofit/>
          </a:bodyPr>
          <a:lstStyle/>
          <a:p>
            <a:pPr algn="just"/>
            <a:r>
              <a:rPr lang="en-US" altLang="en-US" sz="2200">
                <a:latin typeface="Times New Roman" panose="02020603050405020304" pitchFamily="18" charset="0"/>
              </a:rPr>
              <a:t>The primary or secondary windings may be connected in either star (Y) or delta (</a:t>
            </a:r>
            <a:r>
              <a:rPr lang="en-US" altLang="en-US" sz="2200">
                <a:latin typeface="Symbol" panose="05050102010706020507" pitchFamily="18" charset="2"/>
              </a:rPr>
              <a:t>D</a:t>
            </a:r>
            <a:r>
              <a:rPr lang="en-US" altLang="en-US" sz="2200">
                <a:latin typeface="Times New Roman" panose="02020603050405020304" pitchFamily="18" charset="0"/>
              </a:rPr>
              <a:t>) arrangement. </a:t>
            </a:r>
            <a:endParaRPr lang="en-US" altLang="en-US" sz="2200">
              <a:latin typeface="Times New Roman" panose="02020603050405020304" pitchFamily="18" charset="0"/>
            </a:endParaRPr>
          </a:p>
          <a:p>
            <a:pPr algn="just"/>
            <a:r>
              <a:rPr lang="en-US" altLang="en-US" sz="2200">
                <a:latin typeface="Times New Roman" panose="02020603050405020304" pitchFamily="18" charset="0"/>
              </a:rPr>
              <a:t>The four most common connections are: </a:t>
            </a:r>
            <a:endParaRPr lang="en-US" altLang="en-US" sz="2200">
              <a:latin typeface="Times New Roman" panose="02020603050405020304" pitchFamily="18" charset="0"/>
            </a:endParaRPr>
          </a:p>
          <a:p>
            <a:pPr lvl="1" algn="just">
              <a:buFont typeface="Wingdings" panose="05000000000000000000" pitchFamily="2" charset="2"/>
              <a:buChar char="§"/>
            </a:pPr>
            <a:r>
              <a:rPr lang="en-US" altLang="en-US" sz="2200">
                <a:latin typeface="Times New Roman" panose="02020603050405020304" pitchFamily="18" charset="0"/>
              </a:rPr>
              <a:t>Y-Y </a:t>
            </a:r>
            <a:endParaRPr lang="en-US" altLang="en-US" sz="2200">
              <a:latin typeface="Times New Roman" panose="02020603050405020304" pitchFamily="18" charset="0"/>
            </a:endParaRPr>
          </a:p>
          <a:p>
            <a:pPr lvl="1" algn="just">
              <a:buFont typeface="Wingdings" panose="05000000000000000000" pitchFamily="2" charset="2"/>
              <a:buChar char="§"/>
            </a:pPr>
            <a:r>
              <a:rPr lang="en-US" altLang="en-US" sz="2200">
                <a:latin typeface="Symbol" panose="05050102010706020507" pitchFamily="18" charset="2"/>
              </a:rPr>
              <a:t>D</a:t>
            </a:r>
            <a:r>
              <a:rPr lang="en-US" altLang="en-US" sz="2200">
                <a:latin typeface="Times New Roman" panose="02020603050405020304" pitchFamily="18" charset="0"/>
              </a:rPr>
              <a:t>-</a:t>
            </a:r>
            <a:r>
              <a:rPr lang="en-US" altLang="en-US" sz="2200">
                <a:latin typeface="Symbol" panose="05050102010706020507" pitchFamily="18" charset="2"/>
              </a:rPr>
              <a:t>D </a:t>
            </a:r>
            <a:endParaRPr lang="en-US" altLang="en-US" sz="2200">
              <a:latin typeface="Symbol" panose="05050102010706020507" pitchFamily="18" charset="2"/>
            </a:endParaRPr>
          </a:p>
          <a:p>
            <a:pPr lvl="1" algn="just">
              <a:buFont typeface="Wingdings" panose="05000000000000000000" pitchFamily="2" charset="2"/>
              <a:buChar char="§"/>
            </a:pPr>
            <a:r>
              <a:rPr lang="en-US" altLang="en-US" sz="2200">
                <a:latin typeface="Times New Roman" panose="02020603050405020304" pitchFamily="18" charset="0"/>
              </a:rPr>
              <a:t>Y-</a:t>
            </a:r>
            <a:r>
              <a:rPr lang="en-US" altLang="en-US" sz="2200">
                <a:latin typeface="Symbol" panose="05050102010706020507" pitchFamily="18" charset="2"/>
              </a:rPr>
              <a:t>D</a:t>
            </a:r>
            <a:endParaRPr lang="en-US" altLang="en-US" sz="2200">
              <a:latin typeface="Symbol" panose="05050102010706020507" pitchFamily="18" charset="2"/>
            </a:endParaRPr>
          </a:p>
          <a:p>
            <a:pPr lvl="1" algn="just">
              <a:buFont typeface="Wingdings" panose="05000000000000000000" pitchFamily="2" charset="2"/>
              <a:buChar char="§"/>
            </a:pPr>
            <a:r>
              <a:rPr lang="en-US" altLang="en-US" sz="2200">
                <a:latin typeface="Symbol" panose="05050102010706020507" pitchFamily="18" charset="2"/>
              </a:rPr>
              <a:t>D</a:t>
            </a:r>
            <a:r>
              <a:rPr lang="en-US" altLang="en-US" sz="2200">
                <a:latin typeface="Times New Roman" panose="02020603050405020304" pitchFamily="18" charset="0"/>
              </a:rPr>
              <a:t>-Y. </a:t>
            </a:r>
            <a:endParaRPr lang="en-US" altLang="en-US" sz="2200">
              <a:latin typeface="Times New Roman" panose="02020603050405020304" pitchFamily="18" charset="0"/>
            </a:endParaRPr>
          </a:p>
          <a:p>
            <a:pPr algn="just"/>
            <a:r>
              <a:rPr lang="en-US" altLang="en-US" sz="2200">
                <a:latin typeface="Times New Roman" panose="02020603050405020304" pitchFamily="18" charset="0"/>
              </a:rPr>
              <a:t>These four connections are shown in figures below. </a:t>
            </a:r>
            <a:endParaRPr lang="en-US" altLang="en-US" sz="2200">
              <a:latin typeface="Times New Roman" panose="02020603050405020304" pitchFamily="18" charset="0"/>
            </a:endParaRPr>
          </a:p>
          <a:p>
            <a:pPr algn="just"/>
            <a:r>
              <a:rPr lang="en-US" altLang="en-US" sz="2200">
                <a:latin typeface="Times New Roman" panose="02020603050405020304" pitchFamily="18" charset="0"/>
              </a:rPr>
              <a:t>In these figures, the windings at the left are the primaries and those at the right are the secondaries.</a:t>
            </a:r>
            <a:endParaRPr lang="en-US" altLang="en-US" sz="2200">
              <a:latin typeface="Times New Roman" panose="02020603050405020304" pitchFamily="18" charset="0"/>
            </a:endParaRPr>
          </a:p>
          <a:p>
            <a:pPr algn="just"/>
            <a:r>
              <a:rPr lang="en-US" altLang="en-US" sz="2200">
                <a:latin typeface="Times New Roman" panose="02020603050405020304" pitchFamily="18" charset="0"/>
              </a:rPr>
              <a:t>The primary and secondary voltages and currents are also shown. </a:t>
            </a:r>
            <a:endParaRPr lang="en-US" altLang="en-US" sz="2200">
              <a:latin typeface="Times New Roman" panose="02020603050405020304" pitchFamily="18" charset="0"/>
            </a:endParaRPr>
          </a:p>
          <a:p>
            <a:pPr algn="just"/>
            <a:r>
              <a:rPr lang="en-US" altLang="en-US" sz="2200">
                <a:latin typeface="Times New Roman" panose="02020603050405020304" pitchFamily="18" charset="0"/>
              </a:rPr>
              <a:t>The primary line voltage is (V) and the primary line current is (I). </a:t>
            </a:r>
            <a:endParaRPr lang="en-US" altLang="en-US" sz="2200">
              <a:latin typeface="Times New Roman" panose="02020603050405020304" pitchFamily="18" charset="0"/>
            </a:endParaRPr>
          </a:p>
          <a:p>
            <a:pPr algn="just"/>
            <a:r>
              <a:rPr lang="en-US" altLang="en-US" sz="2200">
                <a:latin typeface="Times New Roman" panose="02020603050405020304" pitchFamily="18" charset="0"/>
              </a:rPr>
              <a:t>The phase transformation ratio is K  (N</a:t>
            </a:r>
            <a:r>
              <a:rPr lang="en-US" altLang="en-US" sz="2200" baseline="-25000">
                <a:latin typeface="Times New Roman" panose="02020603050405020304" pitchFamily="18" charset="0"/>
              </a:rPr>
              <a:t>2</a:t>
            </a:r>
            <a:r>
              <a:rPr lang="en-US" altLang="en-US" sz="2200">
                <a:latin typeface="Times New Roman" panose="02020603050405020304" pitchFamily="18" charset="0"/>
              </a:rPr>
              <a:t>/N</a:t>
            </a:r>
            <a:r>
              <a:rPr lang="en-US" altLang="en-US" sz="2200" baseline="-25000">
                <a:latin typeface="Times New Roman" panose="02020603050405020304" pitchFamily="18" charset="0"/>
              </a:rPr>
              <a:t>1</a:t>
            </a:r>
            <a:r>
              <a:rPr lang="en-US" altLang="en-US" sz="2200">
                <a:latin typeface="Times New Roman" panose="02020603050405020304" pitchFamily="18" charset="0"/>
              </a:rPr>
              <a:t>)</a:t>
            </a:r>
            <a:endParaRPr lang="en-US" altLang="en-US" sz="2200"/>
          </a:p>
        </p:txBody>
      </p:sp>
      <p:sp>
        <p:nvSpPr>
          <p:cNvPr id="21508" name="Slide Number Placeholder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defRPr>
            </a:lvl9pPr>
          </a:lstStyle>
          <a:p>
            <a:pPr>
              <a:spcBef>
                <a:spcPct val="0"/>
              </a:spcBef>
              <a:buFontTx/>
              <a:buNone/>
            </a:pPr>
            <a:fld id="{661B3196-3572-4174-9559-13225F9CABAA}" type="slidenum">
              <a:rPr lang="en-US" altLang="en-US" sz="2700">
                <a:solidFill>
                  <a:srgbClr val="045C75"/>
                </a:solidFill>
                <a:latin typeface="Times New Roman" panose="02020603050405020304" pitchFamily="18" charset="0"/>
                <a:cs typeface="Times New Roman" panose="02020603050405020304" pitchFamily="18" charset="0"/>
              </a:rPr>
            </a:fld>
            <a:endParaRPr lang="en-US" altLang="en-US" sz="2700">
              <a:solidFill>
                <a:srgbClr val="045C7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normAutofit/>
          </a:bodyPr>
          <a:lstStyle/>
          <a:p>
            <a:pPr algn="ctr"/>
            <a:r>
              <a:rPr lang="en-US" altLang="en-US" sz="3500" b="1">
                <a:solidFill>
                  <a:srgbClr val="000000"/>
                </a:solidFill>
                <a:latin typeface="Times New Roman" panose="02020603050405020304" pitchFamily="18" charset="0"/>
              </a:rPr>
              <a:t>Three-Phase Transformer Connections</a:t>
            </a:r>
            <a:endParaRPr lang="en-US" altLang="en-US" sz="3500"/>
          </a:p>
        </p:txBody>
      </p:sp>
      <p:pic>
        <p:nvPicPr>
          <p:cNvPr id="22531" name="Content Placeholder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125788" y="1158875"/>
            <a:ext cx="6018212" cy="555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a:bodyPr>
          <a:lstStyle/>
          <a:p>
            <a:pPr algn="ctr"/>
            <a:r>
              <a:rPr lang="en-US" altLang="en-US" sz="3500" b="1">
                <a:solidFill>
                  <a:srgbClr val="000000"/>
                </a:solidFill>
                <a:latin typeface="Times New Roman" panose="02020603050405020304" pitchFamily="18" charset="0"/>
              </a:rPr>
              <a:t>Three-Phase Transformer Connections</a:t>
            </a:r>
            <a:endParaRPr lang="en-US" altLang="en-US"/>
          </a:p>
        </p:txBody>
      </p:sp>
      <p:pic>
        <p:nvPicPr>
          <p:cNvPr id="23555" name="Content Placeholder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757488" y="1127125"/>
            <a:ext cx="6465887" cy="557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algn="ctr"/>
            <a:r>
              <a:rPr lang="en-US" altLang="en-US" sz="3800">
                <a:latin typeface="Times New Roman" panose="02020603050405020304" pitchFamily="18" charset="0"/>
                <a:cs typeface="Times New Roman" panose="02020603050405020304" pitchFamily="18" charset="0"/>
              </a:rPr>
              <a:t>Y-Y Connection</a:t>
            </a:r>
            <a:endParaRPr lang="en-US" altLang="en-US" sz="38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23938" y="1052513"/>
            <a:ext cx="9907587" cy="5540375"/>
          </a:xfrm>
        </p:spPr>
        <p:txBody>
          <a:bodyPr/>
          <a:lstStyle/>
          <a:p>
            <a:pPr marL="274320" indent="-274320" algn="just" eaLnBrk="1" fontAlgn="auto" hangingPunct="1">
              <a:lnSpc>
                <a:spcPct val="150000"/>
              </a:lnSpc>
              <a:spcAft>
                <a:spcPts val="0"/>
              </a:spcAft>
              <a:buClr>
                <a:srgbClr val="0BD0D9"/>
              </a:buClr>
              <a:buSzPct val="95000"/>
              <a:buFont typeface="Wingdings 2" panose="05020102010507070707"/>
              <a:buChar char=""/>
              <a:defRPr/>
            </a:pPr>
            <a:r>
              <a:rPr lang="en-US" sz="2000" dirty="0">
                <a:solidFill>
                  <a:prstClr val="black"/>
                </a:solidFill>
                <a:latin typeface="Times New Roman" panose="02020603050405020304" pitchFamily="18" charset="0"/>
              </a:rPr>
              <a:t>More economical because number of turns/phase and the amount of insulation required is minimum.</a:t>
            </a:r>
            <a:endParaRPr lang="en-US" sz="2000" dirty="0">
              <a:solidFill>
                <a:prstClr val="black"/>
              </a:solidFill>
              <a:latin typeface="Times New Roman" panose="02020603050405020304" pitchFamily="18" charset="0"/>
            </a:endParaRPr>
          </a:p>
          <a:p>
            <a:pPr marL="274320" indent="-274320" algn="just" eaLnBrk="1" fontAlgn="auto" hangingPunct="1">
              <a:lnSpc>
                <a:spcPct val="150000"/>
              </a:lnSpc>
              <a:spcAft>
                <a:spcPts val="0"/>
              </a:spcAft>
              <a:buClr>
                <a:srgbClr val="0BD0D9"/>
              </a:buClr>
              <a:buSzPct val="95000"/>
              <a:buFont typeface="Wingdings 2" panose="05020102010507070707"/>
              <a:buChar char=""/>
              <a:defRPr/>
            </a:pPr>
            <a:r>
              <a:rPr lang="en-US" sz="2000" dirty="0">
                <a:solidFill>
                  <a:prstClr val="black"/>
                </a:solidFill>
                <a:latin typeface="Times New Roman" panose="02020603050405020304" pitchFamily="18" charset="0"/>
              </a:rPr>
              <a:t>In the Y-Y connection shown in Fig. (</a:t>
            </a:r>
            <a:r>
              <a:rPr lang="en-US" sz="2000" dirty="0" err="1">
                <a:solidFill>
                  <a:prstClr val="black"/>
                </a:solidFill>
                <a:latin typeface="Times New Roman" panose="02020603050405020304" pitchFamily="18" charset="0"/>
              </a:rPr>
              <a:t>i</a:t>
            </a:r>
            <a:r>
              <a:rPr lang="en-US" sz="2000" dirty="0">
                <a:solidFill>
                  <a:prstClr val="black"/>
                </a:solidFill>
                <a:latin typeface="Times New Roman" panose="02020603050405020304" pitchFamily="18" charset="0"/>
              </a:rPr>
              <a:t>), 57.7% (or 1/ √3) of the line voltage is impressed upon each  winding but full line current flows in each winding.</a:t>
            </a:r>
            <a:endParaRPr lang="en-US" sz="2000" dirty="0">
              <a:solidFill>
                <a:prstClr val="black"/>
              </a:solidFill>
              <a:latin typeface="Times New Roman" panose="02020603050405020304" pitchFamily="18" charset="0"/>
            </a:endParaRPr>
          </a:p>
          <a:p>
            <a:pPr marL="274320" indent="-274320" algn="just" eaLnBrk="1" fontAlgn="auto" hangingPunct="1">
              <a:lnSpc>
                <a:spcPct val="150000"/>
              </a:lnSpc>
              <a:spcAft>
                <a:spcPts val="0"/>
              </a:spcAft>
              <a:buClr>
                <a:srgbClr val="0BD0D9"/>
              </a:buClr>
              <a:buSzPct val="95000"/>
              <a:buFont typeface="Wingdings 2" panose="05020102010507070707"/>
              <a:buChar char=""/>
              <a:defRPr/>
            </a:pPr>
            <a:r>
              <a:rPr lang="en-US" sz="2000" dirty="0">
                <a:solidFill>
                  <a:prstClr val="black"/>
                </a:solidFill>
                <a:latin typeface="Times New Roman" panose="02020603050405020304" pitchFamily="18" charset="0"/>
              </a:rPr>
              <a:t>Power circuits supplied from a Y-Y bank often create serious disturbances in communication circuits in their immediate vicinity. Also works with balanced loading. </a:t>
            </a:r>
            <a:endParaRPr lang="en-US" sz="2000" dirty="0">
              <a:solidFill>
                <a:prstClr val="black"/>
              </a:solidFill>
              <a:latin typeface="Times New Roman" panose="02020603050405020304" pitchFamily="18" charset="0"/>
            </a:endParaRPr>
          </a:p>
          <a:p>
            <a:pPr marL="274320" indent="-274320" algn="just" eaLnBrk="1" fontAlgn="auto" hangingPunct="1">
              <a:lnSpc>
                <a:spcPct val="150000"/>
              </a:lnSpc>
              <a:spcAft>
                <a:spcPts val="0"/>
              </a:spcAft>
              <a:buClr>
                <a:srgbClr val="0BD0D9"/>
              </a:buClr>
              <a:buSzPct val="95000"/>
              <a:buFont typeface="Wingdings 2" panose="05020102010507070707"/>
              <a:buChar char=""/>
              <a:defRPr/>
            </a:pPr>
            <a:r>
              <a:rPr lang="en-US" sz="2000" dirty="0">
                <a:solidFill>
                  <a:prstClr val="black"/>
                </a:solidFill>
                <a:latin typeface="Times New Roman" panose="02020603050405020304" pitchFamily="18" charset="0"/>
              </a:rPr>
              <a:t>Because of this and other disadvantages, the Y-Y connection is seldom used</a:t>
            </a:r>
            <a:r>
              <a:rPr lang="en-US" sz="2400" dirty="0">
                <a:solidFill>
                  <a:prstClr val="black"/>
                </a:solidFill>
                <a:latin typeface="Times New Roman" panose="02020603050405020304" pitchFamily="18" charset="0"/>
              </a:rPr>
              <a:t>.</a:t>
            </a:r>
            <a:endParaRPr lang="en-US" sz="2400" dirty="0">
              <a:solidFill>
                <a:prstClr val="black"/>
              </a:solidFill>
              <a:latin typeface="Constantia" panose="02030602050306030303"/>
            </a:endParaRPr>
          </a:p>
          <a:p>
            <a:pPr>
              <a:defRPr/>
            </a:pPr>
            <a:endParaRPr lang="en-US" dirty="0"/>
          </a:p>
        </p:txBody>
      </p:sp>
      <p:pic>
        <p:nvPicPr>
          <p:cNvPr id="24580"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454400" y="4672013"/>
            <a:ext cx="5283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609600" y="592138"/>
            <a:ext cx="10972800" cy="582612"/>
          </a:xfrm>
        </p:spPr>
        <p:txBody>
          <a:bodyPr>
            <a:normAutofit fontScale="90000"/>
          </a:bodyPr>
          <a:lstStyle/>
          <a:p>
            <a:pPr algn="ctr"/>
            <a:r>
              <a:rPr lang="en-US" altLang="en-US">
                <a:solidFill>
                  <a:srgbClr val="000000"/>
                </a:solidFill>
                <a:latin typeface="Symbol" panose="05050102010706020507" pitchFamily="18" charset="2"/>
              </a:rPr>
              <a:t>D</a:t>
            </a:r>
            <a:r>
              <a:rPr lang="en-US" altLang="en-US" b="1">
                <a:solidFill>
                  <a:srgbClr val="000000"/>
                </a:solidFill>
                <a:latin typeface="Times New Roman" panose="02020603050405020304" pitchFamily="18" charset="0"/>
              </a:rPr>
              <a:t>-</a:t>
            </a:r>
            <a:r>
              <a:rPr lang="en-US" altLang="en-US">
                <a:solidFill>
                  <a:srgbClr val="000000"/>
                </a:solidFill>
                <a:latin typeface="Symbol" panose="05050102010706020507" pitchFamily="18" charset="2"/>
              </a:rPr>
              <a:t>D </a:t>
            </a:r>
            <a:r>
              <a:rPr lang="en-US" altLang="en-US" b="1">
                <a:solidFill>
                  <a:srgbClr val="000000"/>
                </a:solidFill>
                <a:latin typeface="Times New Roman" panose="02020603050405020304" pitchFamily="18" charset="0"/>
              </a:rPr>
              <a:t>Connection</a:t>
            </a:r>
            <a:r>
              <a:rPr lang="en-US" altLang="en-US">
                <a:solidFill>
                  <a:srgbClr val="000000"/>
                </a:solidFill>
                <a:latin typeface="Times New Roman" panose="02020603050405020304" pitchFamily="18" charset="0"/>
              </a:rPr>
              <a:t>. </a:t>
            </a:r>
            <a:br>
              <a:rPr lang="en-US" altLang="en-US">
                <a:solidFill>
                  <a:srgbClr val="000000"/>
                </a:solidFill>
                <a:latin typeface="Times New Roman" panose="02020603050405020304" pitchFamily="18" charset="0"/>
              </a:rPr>
            </a:br>
            <a:endParaRPr lang="en-US" altLang="en-US"/>
          </a:p>
        </p:txBody>
      </p:sp>
      <p:sp>
        <p:nvSpPr>
          <p:cNvPr id="3" name="Content Placeholder 2"/>
          <p:cNvSpPr>
            <a:spLocks noGrp="1"/>
          </p:cNvSpPr>
          <p:nvPr>
            <p:ph idx="1"/>
          </p:nvPr>
        </p:nvSpPr>
        <p:spPr>
          <a:xfrm>
            <a:off x="1119188" y="1174750"/>
            <a:ext cx="9853612" cy="4953000"/>
          </a:xfrm>
        </p:spPr>
        <p:txBody>
          <a:bodyPr/>
          <a:lstStyle/>
          <a:p>
            <a:pPr marL="274320" indent="-274320" algn="just" eaLnBrk="1" fontAlgn="auto" hangingPunct="1">
              <a:lnSpc>
                <a:spcPct val="150000"/>
              </a:lnSpc>
              <a:spcAft>
                <a:spcPts val="0"/>
              </a:spcAft>
              <a:buClr>
                <a:srgbClr val="0BD0D9"/>
              </a:buClr>
              <a:buSzPct val="95000"/>
              <a:buFont typeface="Wingdings 2" panose="05020102010507070707"/>
              <a:buChar char=""/>
              <a:defRPr/>
            </a:pPr>
            <a:r>
              <a:rPr lang="en-US" sz="2300" dirty="0">
                <a:solidFill>
                  <a:prstClr val="black"/>
                </a:solidFill>
                <a:latin typeface="Times New Roman" panose="02020603050405020304" pitchFamily="18" charset="0"/>
                <a:cs typeface="Times New Roman" panose="02020603050405020304" pitchFamily="18" charset="0"/>
              </a:rPr>
              <a:t>The </a:t>
            </a:r>
            <a:r>
              <a:rPr lang="en-US" sz="2400" dirty="0">
                <a:solidFill>
                  <a:prstClr val="black"/>
                </a:solidFill>
                <a:latin typeface="Symbol" panose="05050102010706020507" pitchFamily="18" charset="2"/>
              </a:rPr>
              <a:t>D</a:t>
            </a:r>
            <a:r>
              <a:rPr lang="en-US" sz="2400" b="1" dirty="0">
                <a:solidFill>
                  <a:prstClr val="black"/>
                </a:solidFill>
                <a:latin typeface="Times New Roman" panose="02020603050405020304" pitchFamily="18" charset="0"/>
              </a:rPr>
              <a:t>-</a:t>
            </a:r>
            <a:r>
              <a:rPr lang="en-US" sz="2400" dirty="0">
                <a:solidFill>
                  <a:prstClr val="black"/>
                </a:solidFill>
                <a:latin typeface="Symbol" panose="05050102010706020507" pitchFamily="18" charset="2"/>
              </a:rPr>
              <a:t>D</a:t>
            </a:r>
            <a:r>
              <a:rPr lang="en-US" sz="2300" dirty="0">
                <a:solidFill>
                  <a:prstClr val="black"/>
                </a:solidFill>
                <a:latin typeface="Times New Roman" panose="02020603050405020304" pitchFamily="18" charset="0"/>
                <a:cs typeface="Times New Roman" panose="02020603050405020304" pitchFamily="18" charset="0"/>
              </a:rPr>
              <a:t> connection shown in Fig. (ii) is often used for moderate voltages.</a:t>
            </a:r>
            <a:endParaRPr lang="en-US" sz="2300" dirty="0">
              <a:solidFill>
                <a:prstClr val="black"/>
              </a:solidFill>
              <a:latin typeface="Times New Roman" panose="02020603050405020304" pitchFamily="18" charset="0"/>
              <a:cs typeface="Times New Roman" panose="02020603050405020304" pitchFamily="18" charset="0"/>
            </a:endParaRPr>
          </a:p>
          <a:p>
            <a:pPr marL="274320" indent="-274320" algn="just" eaLnBrk="1" fontAlgn="auto" hangingPunct="1">
              <a:lnSpc>
                <a:spcPct val="150000"/>
              </a:lnSpc>
              <a:spcAft>
                <a:spcPts val="0"/>
              </a:spcAft>
              <a:buClr>
                <a:srgbClr val="0BD0D9"/>
              </a:buClr>
              <a:buSzPct val="95000"/>
              <a:buFont typeface="Wingdings 2" panose="05020102010507070707"/>
              <a:buChar char=""/>
              <a:defRPr/>
            </a:pPr>
            <a:r>
              <a:rPr lang="en-US" sz="2300" dirty="0">
                <a:solidFill>
                  <a:prstClr val="black"/>
                </a:solidFill>
                <a:latin typeface="Times New Roman" panose="02020603050405020304" pitchFamily="18" charset="0"/>
                <a:cs typeface="Times New Roman" panose="02020603050405020304" pitchFamily="18" charset="0"/>
              </a:rPr>
              <a:t>An advantage of this connection is that if one transformer gets damaged or is removed from service, the remaining two can be operated in what is known as the open-delta or V-V connection. </a:t>
            </a:r>
            <a:endParaRPr lang="en-US" sz="2300" dirty="0">
              <a:solidFill>
                <a:prstClr val="black"/>
              </a:solidFill>
              <a:latin typeface="Times New Roman" panose="02020603050405020304" pitchFamily="18" charset="0"/>
              <a:cs typeface="Times New Roman" panose="02020603050405020304" pitchFamily="18" charset="0"/>
            </a:endParaRPr>
          </a:p>
          <a:p>
            <a:pPr marL="274320" indent="-274320" algn="just" eaLnBrk="1" fontAlgn="auto" hangingPunct="1">
              <a:lnSpc>
                <a:spcPct val="150000"/>
              </a:lnSpc>
              <a:spcAft>
                <a:spcPts val="0"/>
              </a:spcAft>
              <a:buClr>
                <a:srgbClr val="0BD0D9"/>
              </a:buClr>
              <a:buSzPct val="95000"/>
              <a:buFont typeface="Wingdings 2" panose="05020102010507070707"/>
              <a:buChar char=""/>
              <a:defRPr/>
            </a:pPr>
            <a:r>
              <a:rPr lang="en-US" sz="2300" dirty="0">
                <a:solidFill>
                  <a:prstClr val="black"/>
                </a:solidFill>
                <a:latin typeface="Times New Roman" panose="02020603050405020304" pitchFamily="18" charset="0"/>
                <a:cs typeface="Times New Roman" panose="02020603050405020304" pitchFamily="18" charset="0"/>
              </a:rPr>
              <a:t>By being operated in this way, the bank still delivers three-phase currents and voltages in their correct phase relationships but the capacity of the bank is reduced to 57.7% of what it was with all three transformers in service.</a:t>
            </a:r>
            <a:endParaRPr lang="en-US" sz="2300" dirty="0">
              <a:solidFill>
                <a:prstClr val="black"/>
              </a:solidFill>
              <a:latin typeface="Times New Roman" panose="02020603050405020304" pitchFamily="18" charset="0"/>
              <a:cs typeface="Times New Roman" panose="02020603050405020304" pitchFamily="18" charset="0"/>
            </a:endParaRPr>
          </a:p>
          <a:p>
            <a:pPr marL="274320" indent="-274320" algn="just" eaLnBrk="1" fontAlgn="auto" hangingPunct="1">
              <a:lnSpc>
                <a:spcPct val="150000"/>
              </a:lnSpc>
              <a:spcAft>
                <a:spcPts val="0"/>
              </a:spcAft>
              <a:buClr>
                <a:srgbClr val="0BD0D9"/>
              </a:buClr>
              <a:buSzPct val="95000"/>
              <a:buFont typeface="Wingdings 2" panose="05020102010507070707"/>
              <a:buChar char=""/>
              <a:defRPr/>
            </a:pPr>
            <a:r>
              <a:rPr lang="en-US" sz="2300" dirty="0">
                <a:solidFill>
                  <a:prstClr val="black"/>
                </a:solidFill>
                <a:latin typeface="Times New Roman" panose="02020603050405020304" pitchFamily="18" charset="0"/>
                <a:cs typeface="Times New Roman" panose="02020603050405020304" pitchFamily="18" charset="0"/>
              </a:rPr>
              <a:t>No difficulty is experienced when exposed to unbalanced loading.</a:t>
            </a:r>
            <a:endParaRPr lang="en-US" sz="2300" dirty="0">
              <a:solidFill>
                <a:prstClr val="black"/>
              </a:solidFill>
              <a:latin typeface="Times New Roman" panose="02020603050405020304" pitchFamily="18" charset="0"/>
              <a:cs typeface="Times New Roman" panose="02020603050405020304" pitchFamily="18" charset="0"/>
            </a:endParaRPr>
          </a:p>
          <a:p>
            <a:pPr>
              <a:defRP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algn="ctr"/>
            <a:r>
              <a:rPr lang="en-US" altLang="en-US"/>
              <a:t>Combined connections</a:t>
            </a:r>
            <a:endParaRPr lang="en-US" altLang="en-US"/>
          </a:p>
        </p:txBody>
      </p:sp>
      <p:sp>
        <p:nvSpPr>
          <p:cNvPr id="3" name="Content Placeholder 2"/>
          <p:cNvSpPr>
            <a:spLocks noGrp="1"/>
          </p:cNvSpPr>
          <p:nvPr>
            <p:ph idx="1"/>
          </p:nvPr>
        </p:nvSpPr>
        <p:spPr>
          <a:xfrm>
            <a:off x="1050925" y="1174750"/>
            <a:ext cx="9921875" cy="4953000"/>
          </a:xfrm>
        </p:spPr>
        <p:txBody>
          <a:bodyPr/>
          <a:lstStyle/>
          <a:p>
            <a:pPr marL="0" indent="0" algn="just" eaLnBrk="1" fontAlgn="auto" hangingPunct="1">
              <a:lnSpc>
                <a:spcPct val="150000"/>
              </a:lnSpc>
              <a:spcAft>
                <a:spcPts val="0"/>
              </a:spcAft>
              <a:buClr>
                <a:srgbClr val="0BD0D9"/>
              </a:buClr>
              <a:buSzPct val="95000"/>
              <a:buFontTx/>
              <a:buNone/>
              <a:defRPr/>
            </a:pPr>
            <a:r>
              <a:rPr lang="en-US" sz="2300" b="1" dirty="0">
                <a:solidFill>
                  <a:prstClr val="black"/>
                </a:solidFill>
                <a:latin typeface="Times New Roman" panose="02020603050405020304" pitchFamily="18" charset="0"/>
                <a:cs typeface="Times New Roman" panose="02020603050405020304" pitchFamily="18" charset="0"/>
              </a:rPr>
              <a:t>Y-</a:t>
            </a:r>
            <a:r>
              <a:rPr lang="el-GR" sz="2300" dirty="0">
                <a:solidFill>
                  <a:prstClr val="black"/>
                </a:solidFill>
                <a:latin typeface="Times New Roman" panose="02020603050405020304" pitchFamily="18" charset="0"/>
                <a:cs typeface="Times New Roman" panose="02020603050405020304" pitchFamily="18" charset="0"/>
              </a:rPr>
              <a:t>Δ</a:t>
            </a:r>
            <a:r>
              <a:rPr lang="en-US" sz="2300" dirty="0">
                <a:solidFill>
                  <a:prstClr val="black"/>
                </a:solidFill>
                <a:latin typeface="Times New Roman" panose="02020603050405020304" pitchFamily="18" charset="0"/>
                <a:cs typeface="Times New Roman" panose="02020603050405020304" pitchFamily="18" charset="0"/>
              </a:rPr>
              <a:t> </a:t>
            </a:r>
            <a:r>
              <a:rPr lang="en-US" sz="2300" b="1" dirty="0">
                <a:solidFill>
                  <a:prstClr val="black"/>
                </a:solidFill>
                <a:latin typeface="Times New Roman" panose="02020603050405020304" pitchFamily="18" charset="0"/>
                <a:cs typeface="Times New Roman" panose="02020603050405020304" pitchFamily="18" charset="0"/>
              </a:rPr>
              <a:t>Connection</a:t>
            </a:r>
            <a:r>
              <a:rPr lang="en-US" sz="2300" dirty="0">
                <a:solidFill>
                  <a:prstClr val="black"/>
                </a:solidFill>
                <a:latin typeface="Times New Roman" panose="02020603050405020304" pitchFamily="18" charset="0"/>
                <a:cs typeface="Times New Roman" panose="02020603050405020304" pitchFamily="18" charset="0"/>
              </a:rPr>
              <a:t>. </a:t>
            </a:r>
            <a:endParaRPr lang="en-US" sz="2300" dirty="0">
              <a:solidFill>
                <a:prstClr val="black"/>
              </a:solidFill>
              <a:latin typeface="Times New Roman" panose="02020603050405020304" pitchFamily="18" charset="0"/>
              <a:cs typeface="Times New Roman" panose="02020603050405020304" pitchFamily="18" charset="0"/>
            </a:endParaRPr>
          </a:p>
          <a:p>
            <a:pPr marL="274320" indent="-274320" algn="just" eaLnBrk="1" fontAlgn="auto" hangingPunct="1">
              <a:lnSpc>
                <a:spcPct val="150000"/>
              </a:lnSpc>
              <a:spcAft>
                <a:spcPts val="0"/>
              </a:spcAft>
              <a:buClr>
                <a:srgbClr val="0BD0D9"/>
              </a:buClr>
              <a:buSzPct val="95000"/>
              <a:buFont typeface="Wingdings 2" panose="05020102010507070707"/>
              <a:buChar char=""/>
              <a:defRPr/>
            </a:pPr>
            <a:r>
              <a:rPr lang="en-US" sz="2300" dirty="0">
                <a:solidFill>
                  <a:prstClr val="black"/>
                </a:solidFill>
                <a:latin typeface="Times New Roman" panose="02020603050405020304" pitchFamily="18" charset="0"/>
                <a:cs typeface="Times New Roman" panose="02020603050405020304" pitchFamily="18" charset="0"/>
              </a:rPr>
              <a:t>The Y-</a:t>
            </a:r>
            <a:r>
              <a:rPr lang="el-GR" sz="2300" dirty="0">
                <a:solidFill>
                  <a:prstClr val="black"/>
                </a:solidFill>
                <a:latin typeface="Times New Roman" panose="02020603050405020304" pitchFamily="18" charset="0"/>
                <a:cs typeface="Times New Roman" panose="02020603050405020304" pitchFamily="18" charset="0"/>
              </a:rPr>
              <a:t>Δ</a:t>
            </a:r>
            <a:r>
              <a:rPr lang="en-US" sz="2300" dirty="0">
                <a:solidFill>
                  <a:prstClr val="black"/>
                </a:solidFill>
                <a:latin typeface="Times New Roman" panose="02020603050405020304" pitchFamily="18" charset="0"/>
                <a:cs typeface="Times New Roman" panose="02020603050405020304" pitchFamily="18" charset="0"/>
              </a:rPr>
              <a:t> connection shown in Fig. (iii) is suitable for stepping down a high voltage. </a:t>
            </a:r>
            <a:endParaRPr lang="en-US" sz="2300" dirty="0">
              <a:solidFill>
                <a:prstClr val="black"/>
              </a:solidFill>
              <a:latin typeface="Times New Roman" panose="02020603050405020304" pitchFamily="18" charset="0"/>
              <a:cs typeface="Times New Roman" panose="02020603050405020304" pitchFamily="18" charset="0"/>
            </a:endParaRPr>
          </a:p>
          <a:p>
            <a:pPr marL="274320" indent="-274320" algn="just" eaLnBrk="1" fontAlgn="auto" hangingPunct="1">
              <a:lnSpc>
                <a:spcPct val="150000"/>
              </a:lnSpc>
              <a:spcAft>
                <a:spcPts val="0"/>
              </a:spcAft>
              <a:buClr>
                <a:srgbClr val="0BD0D9"/>
              </a:buClr>
              <a:buSzPct val="95000"/>
              <a:buFont typeface="Wingdings 2" panose="05020102010507070707"/>
              <a:buChar char=""/>
              <a:defRPr/>
            </a:pPr>
            <a:r>
              <a:rPr lang="en-US" sz="2300" dirty="0">
                <a:solidFill>
                  <a:prstClr val="black"/>
                </a:solidFill>
                <a:latin typeface="Times New Roman" panose="02020603050405020304" pitchFamily="18" charset="0"/>
                <a:cs typeface="Times New Roman" panose="02020603050405020304" pitchFamily="18" charset="0"/>
              </a:rPr>
              <a:t>In this case, the primaries are designed for 57.7% of the high-tension line voltages.</a:t>
            </a:r>
            <a:endParaRPr lang="en-US" sz="2300" dirty="0">
              <a:solidFill>
                <a:prstClr val="black"/>
              </a:solidFill>
              <a:latin typeface="Times New Roman" panose="02020603050405020304" pitchFamily="18" charset="0"/>
              <a:cs typeface="Times New Roman" panose="02020603050405020304" pitchFamily="18" charset="0"/>
            </a:endParaRPr>
          </a:p>
          <a:p>
            <a:pPr marL="0" indent="0" algn="just" eaLnBrk="1" fontAlgn="auto" hangingPunct="1">
              <a:lnSpc>
                <a:spcPct val="150000"/>
              </a:lnSpc>
              <a:spcAft>
                <a:spcPts val="0"/>
              </a:spcAft>
              <a:buClr>
                <a:srgbClr val="0BD0D9"/>
              </a:buClr>
              <a:buSzPct val="95000"/>
              <a:buFontTx/>
              <a:buNone/>
              <a:defRPr/>
            </a:pPr>
            <a:r>
              <a:rPr lang="el-GR" sz="2300" dirty="0">
                <a:solidFill>
                  <a:prstClr val="black"/>
                </a:solidFill>
                <a:latin typeface="Times New Roman" panose="02020603050405020304" pitchFamily="18" charset="0"/>
                <a:cs typeface="Times New Roman" panose="02020603050405020304" pitchFamily="18" charset="0"/>
              </a:rPr>
              <a:t>Δ</a:t>
            </a:r>
            <a:r>
              <a:rPr lang="en-US" sz="2300" b="1" dirty="0">
                <a:solidFill>
                  <a:prstClr val="black"/>
                </a:solidFill>
                <a:latin typeface="Times New Roman" panose="02020603050405020304" pitchFamily="18" charset="0"/>
                <a:cs typeface="Times New Roman" panose="02020603050405020304" pitchFamily="18" charset="0"/>
              </a:rPr>
              <a:t>-Y Connection</a:t>
            </a:r>
            <a:r>
              <a:rPr lang="en-US" sz="2300" dirty="0">
                <a:solidFill>
                  <a:prstClr val="black"/>
                </a:solidFill>
                <a:latin typeface="Times New Roman" panose="02020603050405020304" pitchFamily="18" charset="0"/>
                <a:cs typeface="Times New Roman" panose="02020603050405020304" pitchFamily="18" charset="0"/>
              </a:rPr>
              <a:t>. </a:t>
            </a:r>
            <a:endParaRPr lang="en-US" sz="2300" dirty="0">
              <a:solidFill>
                <a:prstClr val="black"/>
              </a:solidFill>
              <a:latin typeface="Times New Roman" panose="02020603050405020304" pitchFamily="18" charset="0"/>
              <a:cs typeface="Times New Roman" panose="02020603050405020304" pitchFamily="18" charset="0"/>
            </a:endParaRPr>
          </a:p>
          <a:p>
            <a:pPr marL="274320" indent="-274320" algn="just" eaLnBrk="1" fontAlgn="auto" hangingPunct="1">
              <a:lnSpc>
                <a:spcPct val="150000"/>
              </a:lnSpc>
              <a:spcAft>
                <a:spcPts val="0"/>
              </a:spcAft>
              <a:buClr>
                <a:srgbClr val="0BD0D9"/>
              </a:buClr>
              <a:buSzPct val="95000"/>
              <a:buFont typeface="Wingdings 2" panose="05020102010507070707"/>
              <a:buChar char=""/>
              <a:defRPr/>
            </a:pPr>
            <a:r>
              <a:rPr lang="en-US" sz="2300" dirty="0">
                <a:solidFill>
                  <a:prstClr val="black"/>
                </a:solidFill>
                <a:latin typeface="Times New Roman" panose="02020603050405020304" pitchFamily="18" charset="0"/>
                <a:cs typeface="Times New Roman" panose="02020603050405020304" pitchFamily="18" charset="0"/>
              </a:rPr>
              <a:t>The </a:t>
            </a:r>
            <a:r>
              <a:rPr lang="el-GR" sz="2300" dirty="0">
                <a:solidFill>
                  <a:prstClr val="black"/>
                </a:solidFill>
                <a:latin typeface="Times New Roman" panose="02020603050405020304" pitchFamily="18" charset="0"/>
                <a:cs typeface="Times New Roman" panose="02020603050405020304" pitchFamily="18" charset="0"/>
              </a:rPr>
              <a:t>Δ</a:t>
            </a:r>
            <a:r>
              <a:rPr lang="en-US" sz="2300" dirty="0">
                <a:solidFill>
                  <a:prstClr val="black"/>
                </a:solidFill>
                <a:latin typeface="Times New Roman" panose="02020603050405020304" pitchFamily="18" charset="0"/>
                <a:cs typeface="Times New Roman" panose="02020603050405020304" pitchFamily="18" charset="0"/>
              </a:rPr>
              <a:t>-Y connection shown in Fig. (iv) is commonly used for stepping up to a high voltage.</a:t>
            </a:r>
            <a:endParaRPr lang="en-US" sz="2300" dirty="0">
              <a:solidFill>
                <a:prstClr val="black"/>
              </a:solidFill>
              <a:latin typeface="Times New Roman" panose="02020603050405020304" pitchFamily="18" charset="0"/>
              <a:cs typeface="Times New Roman" panose="02020603050405020304" pitchFamily="18" charset="0"/>
            </a:endParaRPr>
          </a:p>
          <a:p>
            <a:pPr>
              <a:defRPr/>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algn="ctr"/>
            <a:r>
              <a:rPr lang="en-US" altLang="en-US"/>
              <a:t>Practice Question</a:t>
            </a:r>
            <a:endParaRPr lang="en-US" altLang="en-US"/>
          </a:p>
        </p:txBody>
      </p:sp>
      <p:sp>
        <p:nvSpPr>
          <p:cNvPr id="3" name="Content Placeholder 2"/>
          <p:cNvSpPr>
            <a:spLocks noGrp="1"/>
          </p:cNvSpPr>
          <p:nvPr>
            <p:ph idx="1"/>
          </p:nvPr>
        </p:nvSpPr>
        <p:spPr>
          <a:xfrm>
            <a:off x="1146175" y="1174750"/>
            <a:ext cx="9840913" cy="4953000"/>
          </a:xfrm>
        </p:spPr>
        <p:txBody>
          <a:bodyPr/>
          <a:lstStyle/>
          <a:p>
            <a:pPr marL="274320" indent="-274320" algn="just" eaLnBrk="1" fontAlgn="auto" hangingPunct="1">
              <a:lnSpc>
                <a:spcPct val="150000"/>
              </a:lnSpc>
              <a:spcAft>
                <a:spcPts val="0"/>
              </a:spcAft>
              <a:buClr>
                <a:srgbClr val="0BD0D9"/>
              </a:buClr>
              <a:buSzPct val="95000"/>
              <a:buFont typeface="Wingdings 2" panose="05020102010507070707"/>
              <a:buChar char=""/>
              <a:defRPr/>
            </a:pPr>
            <a:r>
              <a:rPr lang="en-US" sz="2600" b="1" dirty="0">
                <a:solidFill>
                  <a:prstClr val="black"/>
                </a:solidFill>
                <a:latin typeface="Constantia" panose="02030602050306030303"/>
              </a:rPr>
              <a:t>Qn. </a:t>
            </a:r>
            <a:r>
              <a:rPr lang="en-US" sz="2600" dirty="0">
                <a:solidFill>
                  <a:prstClr val="black"/>
                </a:solidFill>
                <a:latin typeface="Times New Roman" panose="02020603050405020304" pitchFamily="18" charset="0"/>
                <a:cs typeface="Times New Roman" panose="02020603050405020304" pitchFamily="18" charset="0"/>
              </a:rPr>
              <a:t>A 3-phase 50Hz transformer has a delta- connected primary and star-connected secondary, the line voltages being 22kV and 0.4kV,  respectively. The secondary has a star connected balanced load at 0.8pf lagging. The line current on the primary side is 5A. Determine the current in each coil of the primary and in each secondary line. Also calculate the output real power of the transformer</a:t>
            </a:r>
            <a:endParaRPr lang="en-US" sz="2600" dirty="0">
              <a:solidFill>
                <a:prstClr val="black"/>
              </a:solidFill>
              <a:latin typeface="Times New Roman" panose="02020603050405020304" pitchFamily="18" charset="0"/>
              <a:cs typeface="Times New Roman" panose="02020603050405020304" pitchFamily="18" charset="0"/>
            </a:endParaRPr>
          </a:p>
          <a:p>
            <a:pPr>
              <a:defRPr/>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algn="ctr"/>
            <a:r>
              <a:rPr lang="en-US" altLang="en-US"/>
              <a:t>Solution</a:t>
            </a:r>
            <a:endParaRPr lang="en-US" altLang="en-US"/>
          </a:p>
        </p:txBody>
      </p:sp>
      <p:pic>
        <p:nvPicPr>
          <p:cNvPr id="28675" name="Content Placeholder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400300" y="1174750"/>
            <a:ext cx="7148513" cy="539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1096963" y="190500"/>
            <a:ext cx="9904412" cy="582613"/>
          </a:xfrm>
        </p:spPr>
        <p:txBody>
          <a:bodyPr>
            <a:normAutofit fontScale="90000"/>
          </a:bodyPr>
          <a:lstStyle/>
          <a:p>
            <a:pPr algn="ctr"/>
            <a:r>
              <a:rPr lang="en-US" altLang="en-US" b="1">
                <a:solidFill>
                  <a:srgbClr val="000000"/>
                </a:solidFill>
                <a:latin typeface="Times New Roman" panose="02020603050405020304" pitchFamily="18" charset="0"/>
              </a:rPr>
              <a:t>Vector Group of 3-phase transformer</a:t>
            </a:r>
            <a:endParaRPr lang="en-US" altLang="en-US"/>
          </a:p>
        </p:txBody>
      </p:sp>
      <p:sp>
        <p:nvSpPr>
          <p:cNvPr id="17411" name="Content Placeholder 2"/>
          <p:cNvSpPr>
            <a:spLocks noGrp="1"/>
          </p:cNvSpPr>
          <p:nvPr>
            <p:ph idx="1"/>
          </p:nvPr>
        </p:nvSpPr>
        <p:spPr>
          <a:xfrm>
            <a:off x="1096963" y="1174750"/>
            <a:ext cx="9904412" cy="5507038"/>
          </a:xfrm>
        </p:spPr>
        <p:txBody>
          <a:bodyPr>
            <a:normAutofit lnSpcReduction="10000"/>
          </a:bodyPr>
          <a:lstStyle/>
          <a:p>
            <a:pPr algn="just"/>
            <a:r>
              <a:rPr lang="en-US" altLang="en-US" sz="2200">
                <a:solidFill>
                  <a:srgbClr val="000000"/>
                </a:solidFill>
                <a:latin typeface="Times New Roman" panose="02020603050405020304" pitchFamily="18" charset="0"/>
              </a:rPr>
              <a:t>The secondary voltages of a 3-phase transformer may undergo a </a:t>
            </a:r>
            <a:r>
              <a:rPr lang="en-US" altLang="en-US" sz="2200" i="1">
                <a:solidFill>
                  <a:srgbClr val="000000"/>
                </a:solidFill>
                <a:latin typeface="Times New Roman" panose="02020603050405020304" pitchFamily="18" charset="0"/>
              </a:rPr>
              <a:t>phase shift </a:t>
            </a:r>
            <a:r>
              <a:rPr lang="en-US" altLang="en-US" sz="2200">
                <a:solidFill>
                  <a:srgbClr val="000000"/>
                </a:solidFill>
                <a:latin typeface="Times New Roman" panose="02020603050405020304" pitchFamily="18" charset="0"/>
              </a:rPr>
              <a:t>of either +30</a:t>
            </a:r>
            <a:r>
              <a:rPr lang="en-US" altLang="en-US" sz="2200" baseline="30000">
                <a:solidFill>
                  <a:srgbClr val="000000"/>
                </a:solidFill>
                <a:latin typeface="Times New Roman" panose="02020603050405020304" pitchFamily="18" charset="0"/>
              </a:rPr>
              <a:t>o </a:t>
            </a:r>
            <a:r>
              <a:rPr lang="en-US" altLang="en-US" sz="2200">
                <a:solidFill>
                  <a:srgbClr val="000000"/>
                </a:solidFill>
                <a:latin typeface="Times New Roman" panose="02020603050405020304" pitchFamily="18" charset="0"/>
              </a:rPr>
              <a:t>leading or -30</a:t>
            </a:r>
            <a:r>
              <a:rPr lang="en-US" altLang="en-US" sz="2200" baseline="30000">
                <a:solidFill>
                  <a:srgbClr val="000000"/>
                </a:solidFill>
                <a:latin typeface="Times New Roman" panose="02020603050405020304" pitchFamily="18" charset="0"/>
              </a:rPr>
              <a:t>o</a:t>
            </a:r>
            <a:r>
              <a:rPr lang="en-US" altLang="en-US" sz="2200">
                <a:solidFill>
                  <a:srgbClr val="000000"/>
                </a:solidFill>
                <a:latin typeface="Times New Roman" panose="02020603050405020304" pitchFamily="18" charset="0"/>
              </a:rPr>
              <a:t> lagging or 0</a:t>
            </a:r>
            <a:r>
              <a:rPr lang="en-US" altLang="en-US" sz="2200" baseline="30000">
                <a:solidFill>
                  <a:srgbClr val="000000"/>
                </a:solidFill>
                <a:latin typeface="Times New Roman" panose="02020603050405020304" pitchFamily="18" charset="0"/>
              </a:rPr>
              <a:t>o</a:t>
            </a:r>
            <a:r>
              <a:rPr lang="en-US" altLang="en-US" sz="2200">
                <a:solidFill>
                  <a:srgbClr val="000000"/>
                </a:solidFill>
                <a:latin typeface="Times New Roman" panose="02020603050405020304" pitchFamily="18" charset="0"/>
              </a:rPr>
              <a:t> i.e, no phase shift or 180</a:t>
            </a:r>
            <a:r>
              <a:rPr lang="en-US" altLang="en-US" sz="2200" baseline="30000">
                <a:solidFill>
                  <a:srgbClr val="000000"/>
                </a:solidFill>
                <a:latin typeface="Times New Roman" panose="02020603050405020304" pitchFamily="18" charset="0"/>
              </a:rPr>
              <a:t>o</a:t>
            </a:r>
            <a:r>
              <a:rPr lang="en-US" altLang="en-US" sz="2200">
                <a:solidFill>
                  <a:srgbClr val="000000"/>
                </a:solidFill>
                <a:latin typeface="Times New Roman" panose="02020603050405020304" pitchFamily="18" charset="0"/>
              </a:rPr>
              <a:t> reversal with respective line or phase to neutral voltages. </a:t>
            </a:r>
            <a:endParaRPr lang="en-US" altLang="en-US" sz="2200">
              <a:solidFill>
                <a:srgbClr val="000000"/>
              </a:solidFill>
              <a:latin typeface="Times New Roman" panose="02020603050405020304" pitchFamily="18" charset="0"/>
            </a:endParaRPr>
          </a:p>
          <a:p>
            <a:pPr algn="just"/>
            <a:r>
              <a:rPr lang="en-US" altLang="en-US" sz="2200">
                <a:solidFill>
                  <a:srgbClr val="000000"/>
                </a:solidFill>
                <a:latin typeface="Times New Roman" panose="02020603050405020304" pitchFamily="18" charset="0"/>
              </a:rPr>
              <a:t>On the name plate of a three phase transformer, the vector group is mentioned.</a:t>
            </a:r>
            <a:endParaRPr lang="en-US" altLang="en-US" sz="2200">
              <a:solidFill>
                <a:srgbClr val="000000"/>
              </a:solidFill>
              <a:latin typeface="Times New Roman" panose="02020603050405020304" pitchFamily="18" charset="0"/>
            </a:endParaRPr>
          </a:p>
          <a:p>
            <a:pPr algn="just"/>
            <a:r>
              <a:rPr lang="en-US" altLang="en-US" sz="2200">
                <a:solidFill>
                  <a:srgbClr val="000000"/>
                </a:solidFill>
                <a:latin typeface="Times New Roman" panose="02020603050405020304" pitchFamily="18" charset="0"/>
              </a:rPr>
              <a:t>Typical representation of the vector group could be Ydl or Dy11 etc. </a:t>
            </a:r>
            <a:endParaRPr lang="en-US" altLang="en-US" sz="2200">
              <a:solidFill>
                <a:srgbClr val="000000"/>
              </a:solidFill>
              <a:latin typeface="Times New Roman" panose="02020603050405020304" pitchFamily="18" charset="0"/>
            </a:endParaRPr>
          </a:p>
          <a:p>
            <a:pPr algn="just"/>
            <a:r>
              <a:rPr lang="en-US" altLang="en-US" sz="2200">
                <a:solidFill>
                  <a:srgbClr val="000000"/>
                </a:solidFill>
                <a:latin typeface="Times New Roman" panose="02020603050405020304" pitchFamily="18" charset="0"/>
              </a:rPr>
              <a:t>The first capital latter Y indicates that the primary is connected in star and the second lower case latter d indicates delta connection of the secondary side. </a:t>
            </a:r>
            <a:endParaRPr lang="en-US" altLang="en-US" sz="2200">
              <a:solidFill>
                <a:srgbClr val="000000"/>
              </a:solidFill>
              <a:latin typeface="Times New Roman" panose="02020603050405020304" pitchFamily="18" charset="0"/>
            </a:endParaRPr>
          </a:p>
          <a:p>
            <a:pPr algn="just"/>
            <a:r>
              <a:rPr lang="en-US" altLang="en-US" sz="2200">
                <a:solidFill>
                  <a:srgbClr val="000000"/>
                </a:solidFill>
                <a:latin typeface="Times New Roman" panose="02020603050405020304" pitchFamily="18" charset="0"/>
              </a:rPr>
              <a:t>The third numerical figure conveys the angle of phase shift based on </a:t>
            </a:r>
            <a:r>
              <a:rPr lang="en-US" altLang="en-US" sz="2200" i="1">
                <a:solidFill>
                  <a:srgbClr val="000000"/>
                </a:solidFill>
                <a:latin typeface="Times New Roman" panose="02020603050405020304" pitchFamily="18" charset="0"/>
              </a:rPr>
              <a:t>clock convention. </a:t>
            </a:r>
            <a:endParaRPr lang="en-US" altLang="en-US" sz="2200" i="1">
              <a:solidFill>
                <a:srgbClr val="000000"/>
              </a:solidFill>
              <a:latin typeface="Times New Roman" panose="02020603050405020304" pitchFamily="18" charset="0"/>
            </a:endParaRPr>
          </a:p>
          <a:p>
            <a:pPr algn="just"/>
            <a:r>
              <a:rPr lang="en-US" altLang="en-US" sz="2200">
                <a:solidFill>
                  <a:srgbClr val="000000"/>
                </a:solidFill>
                <a:latin typeface="Times New Roman" panose="02020603050405020304" pitchFamily="18" charset="0"/>
              </a:rPr>
              <a:t>The minute hand is used to represent the primary phase to neutral voltage and always shown to occupy the position 12. </a:t>
            </a:r>
            <a:endParaRPr lang="en-US" altLang="en-US" sz="2200">
              <a:solidFill>
                <a:srgbClr val="000000"/>
              </a:solidFill>
              <a:latin typeface="Times New Roman" panose="02020603050405020304" pitchFamily="18" charset="0"/>
            </a:endParaRPr>
          </a:p>
          <a:p>
            <a:pPr algn="just"/>
            <a:r>
              <a:rPr lang="en-US" altLang="en-US" sz="2200">
                <a:solidFill>
                  <a:srgbClr val="000000"/>
                </a:solidFill>
                <a:latin typeface="Times New Roman" panose="02020603050405020304" pitchFamily="18" charset="0"/>
              </a:rPr>
              <a:t>The hour hand represents the secondary phase to neutral voltage and may, depending upon phase shift, occupy position other than 12 as shown in the figure (i). The angle between two consecutive numbers on the clock is 30°.</a:t>
            </a:r>
            <a:endParaRPr lang="en-US" altLang="en-US" sz="2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068388" y="190500"/>
            <a:ext cx="9904412" cy="582613"/>
          </a:xfrm>
        </p:spPr>
        <p:txBody>
          <a:bodyPr>
            <a:normAutofit fontScale="90000"/>
          </a:bodyPr>
          <a:lstStyle/>
          <a:p>
            <a:pPr algn="ctr"/>
            <a:r>
              <a:rPr lang="en-US" altLang="en-US" b="1">
                <a:solidFill>
                  <a:srgbClr val="000000"/>
                </a:solidFill>
                <a:latin typeface="Times New Roman" panose="02020603050405020304" pitchFamily="18" charset="0"/>
              </a:rPr>
              <a:t>Clock convention representing vector groups</a:t>
            </a:r>
            <a:endParaRPr lang="en-US" altLang="en-US"/>
          </a:p>
        </p:txBody>
      </p:sp>
      <p:pic>
        <p:nvPicPr>
          <p:cNvPr id="18435"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a:xfrm>
            <a:off x="3255963" y="1174750"/>
            <a:ext cx="5680075" cy="4953000"/>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139825" y="190500"/>
            <a:ext cx="9917113" cy="582613"/>
          </a:xfrm>
        </p:spPr>
        <p:txBody>
          <a:bodyPr>
            <a:normAutofit fontScale="90000"/>
          </a:bodyPr>
          <a:lstStyle/>
          <a:p>
            <a:pPr algn="ctr"/>
            <a:r>
              <a:rPr lang="en-US" altLang="en-US" b="1">
                <a:solidFill>
                  <a:srgbClr val="000000"/>
                </a:solidFill>
                <a:latin typeface="Times New Roman" panose="02020603050405020304" pitchFamily="18" charset="0"/>
              </a:rPr>
              <a:t>Delta/delta (Dd0, Dd6) connection</a:t>
            </a:r>
            <a:endParaRPr lang="en-US" altLang="en-US"/>
          </a:p>
        </p:txBody>
      </p:sp>
      <p:sp>
        <p:nvSpPr>
          <p:cNvPr id="19459" name="Content Placeholder 2"/>
          <p:cNvSpPr>
            <a:spLocks noGrp="1"/>
          </p:cNvSpPr>
          <p:nvPr>
            <p:ph idx="1"/>
          </p:nvPr>
        </p:nvSpPr>
        <p:spPr>
          <a:xfrm>
            <a:off x="1139825" y="1174750"/>
            <a:ext cx="9917113" cy="4953000"/>
          </a:xfrm>
        </p:spPr>
        <p:txBody>
          <a:bodyPr/>
          <a:lstStyle/>
          <a:p>
            <a:pPr algn="just">
              <a:lnSpc>
                <a:spcPct val="150000"/>
              </a:lnSpc>
            </a:pPr>
            <a:r>
              <a:rPr lang="en-US" altLang="en-US" sz="2400">
                <a:solidFill>
                  <a:srgbClr val="000000"/>
                </a:solidFill>
                <a:latin typeface="Times New Roman" panose="02020603050405020304" pitchFamily="18" charset="0"/>
              </a:rPr>
              <a:t>The connection of Dd0 is shown in Fig. 1  and the voltages on primary and secondary sides is also shown on the phasor diagram. </a:t>
            </a:r>
            <a:endParaRPr lang="en-US" altLang="en-US" sz="2400">
              <a:solidFill>
                <a:srgbClr val="000000"/>
              </a:solidFill>
              <a:latin typeface="Times New Roman" panose="02020603050405020304" pitchFamily="18" charset="0"/>
            </a:endParaRPr>
          </a:p>
          <a:p>
            <a:pPr algn="just">
              <a:lnSpc>
                <a:spcPct val="150000"/>
              </a:lnSpc>
            </a:pPr>
            <a:r>
              <a:rPr lang="en-US" altLang="en-US" sz="2400">
                <a:solidFill>
                  <a:srgbClr val="000000"/>
                </a:solidFill>
                <a:latin typeface="Times New Roman" panose="02020603050405020304" pitchFamily="18" charset="0"/>
              </a:rPr>
              <a:t>The phase angle difference between the phase voltage of high voltage side and low voltage side is zero degree (0</a:t>
            </a:r>
            <a:r>
              <a:rPr lang="en-US" altLang="en-US" sz="2400" baseline="30000">
                <a:solidFill>
                  <a:srgbClr val="000000"/>
                </a:solidFill>
                <a:latin typeface="Times New Roman" panose="02020603050405020304" pitchFamily="18" charset="0"/>
              </a:rPr>
              <a:t>o</a:t>
            </a:r>
            <a:r>
              <a:rPr lang="en-US" altLang="en-US" sz="2400">
                <a:solidFill>
                  <a:srgbClr val="000000"/>
                </a:solidFill>
                <a:latin typeface="Times New Roman" panose="02020603050405020304" pitchFamily="18" charset="0"/>
              </a:rPr>
              <a:t>).</a:t>
            </a:r>
            <a:endParaRPr lang="en-US" altLang="en-US" sz="2400">
              <a:solidFill>
                <a:srgbClr val="000000"/>
              </a:solidFill>
              <a:latin typeface="Times New Roman" panose="02020603050405020304" pitchFamily="18" charset="0"/>
            </a:endParaRPr>
          </a:p>
          <a:p>
            <a:pPr algn="just">
              <a:lnSpc>
                <a:spcPct val="150000"/>
              </a:lnSpc>
            </a:pPr>
            <a:endParaRPr lang="en-US" altLang="en-US" sz="2400"/>
          </a:p>
        </p:txBody>
      </p:sp>
      <p:pic>
        <p:nvPicPr>
          <p:cNvPr id="19460"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816225" y="3816350"/>
            <a:ext cx="6845300" cy="210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1082675" y="190500"/>
            <a:ext cx="9918700" cy="582613"/>
          </a:xfrm>
        </p:spPr>
        <p:txBody>
          <a:bodyPr>
            <a:normAutofit fontScale="90000"/>
          </a:bodyPr>
          <a:lstStyle/>
          <a:p>
            <a:pPr algn="ctr"/>
            <a:r>
              <a:rPr lang="en-US" altLang="en-US" b="1">
                <a:solidFill>
                  <a:srgbClr val="000000"/>
                </a:solidFill>
                <a:latin typeface="Times New Roman" panose="02020603050405020304" pitchFamily="18" charset="0"/>
              </a:rPr>
              <a:t>Delta/delta (Dd6) connection</a:t>
            </a:r>
            <a:endParaRPr lang="en-US" altLang="en-US"/>
          </a:p>
        </p:txBody>
      </p:sp>
      <p:sp>
        <p:nvSpPr>
          <p:cNvPr id="20483" name="Content Placeholder 2"/>
          <p:cNvSpPr>
            <a:spLocks noGrp="1"/>
          </p:cNvSpPr>
          <p:nvPr>
            <p:ph idx="1"/>
          </p:nvPr>
        </p:nvSpPr>
        <p:spPr>
          <a:xfrm>
            <a:off x="1082675" y="1174750"/>
            <a:ext cx="9918700" cy="5338763"/>
          </a:xfrm>
        </p:spPr>
        <p:txBody>
          <a:bodyPr/>
          <a:lstStyle/>
          <a:p>
            <a:pPr algn="just">
              <a:lnSpc>
                <a:spcPct val="150000"/>
              </a:lnSpc>
            </a:pPr>
            <a:r>
              <a:rPr lang="en-US" altLang="en-US" sz="2400">
                <a:solidFill>
                  <a:srgbClr val="000000"/>
                </a:solidFill>
                <a:latin typeface="Times New Roman" panose="02020603050405020304" pitchFamily="18" charset="0"/>
              </a:rPr>
              <a:t>The connection of Dd6 is shown in Fig. 2 and the voltages on primary and secondary sides is also shown on the phasor diagram. </a:t>
            </a:r>
            <a:endParaRPr lang="en-US" altLang="en-US" sz="2400">
              <a:solidFill>
                <a:srgbClr val="000000"/>
              </a:solidFill>
              <a:latin typeface="Times New Roman" panose="02020603050405020304" pitchFamily="18" charset="0"/>
            </a:endParaRPr>
          </a:p>
          <a:p>
            <a:pPr algn="just">
              <a:lnSpc>
                <a:spcPct val="150000"/>
              </a:lnSpc>
            </a:pPr>
            <a:r>
              <a:rPr lang="en-US" altLang="en-US" sz="2400">
                <a:solidFill>
                  <a:srgbClr val="000000"/>
                </a:solidFill>
                <a:latin typeface="Times New Roman" panose="02020603050405020304" pitchFamily="18" charset="0"/>
              </a:rPr>
              <a:t>The phase angle difference between the phase voltage of high voltage side and low voltage side is 180</a:t>
            </a:r>
            <a:r>
              <a:rPr lang="en-US" altLang="en-US" sz="2400" baseline="30000">
                <a:solidFill>
                  <a:srgbClr val="000000"/>
                </a:solidFill>
                <a:latin typeface="Times New Roman" panose="02020603050405020304" pitchFamily="18" charset="0"/>
              </a:rPr>
              <a:t>o</a:t>
            </a:r>
            <a:r>
              <a:rPr lang="en-US" altLang="en-US" sz="2400">
                <a:solidFill>
                  <a:srgbClr val="000000"/>
                </a:solidFill>
                <a:latin typeface="Times New Roman" panose="02020603050405020304" pitchFamily="18" charset="0"/>
              </a:rPr>
              <a:t>. </a:t>
            </a:r>
            <a:endParaRPr lang="en-US" altLang="en-US" sz="2400"/>
          </a:p>
        </p:txBody>
      </p:sp>
      <p:pic>
        <p:nvPicPr>
          <p:cNvPr id="20484" name="Picture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244725" y="3694113"/>
            <a:ext cx="7904163" cy="256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p:cNvSpPr>
            <a:spLocks noGrp="1"/>
          </p:cNvSpPr>
          <p:nvPr>
            <p:ph idx="1"/>
          </p:nvPr>
        </p:nvSpPr>
        <p:spPr>
          <a:xfrm>
            <a:off x="1154113" y="1174750"/>
            <a:ext cx="9832975" cy="4953000"/>
          </a:xfrm>
        </p:spPr>
        <p:txBody>
          <a:bodyPr>
            <a:normAutofit lnSpcReduction="10000"/>
          </a:bodyPr>
          <a:lstStyle/>
          <a:p>
            <a:pPr algn="just">
              <a:lnSpc>
                <a:spcPct val="150000"/>
              </a:lnSpc>
            </a:pPr>
            <a:r>
              <a:rPr lang="en-US" altLang="en-US" sz="2400">
                <a:solidFill>
                  <a:srgbClr val="000000"/>
                </a:solidFill>
                <a:latin typeface="Times New Roman" panose="02020603050405020304" pitchFamily="18" charset="0"/>
              </a:rPr>
              <a:t>This connection proves to be economical for large low voltage transformers as it increases number of turns per phase. </a:t>
            </a:r>
            <a:endParaRPr lang="en-US" altLang="en-US" sz="2400">
              <a:solidFill>
                <a:srgbClr val="000000"/>
              </a:solidFill>
              <a:latin typeface="Times New Roman" panose="02020603050405020304" pitchFamily="18" charset="0"/>
            </a:endParaRPr>
          </a:p>
          <a:p>
            <a:pPr algn="just">
              <a:lnSpc>
                <a:spcPct val="150000"/>
              </a:lnSpc>
            </a:pPr>
            <a:r>
              <a:rPr lang="en-US" altLang="en-US" sz="2400">
                <a:solidFill>
                  <a:srgbClr val="000000"/>
                </a:solidFill>
                <a:latin typeface="Times New Roman" panose="02020603050405020304" pitchFamily="18" charset="0"/>
              </a:rPr>
              <a:t>Primary side line voltage is equal to secondary side line voltage. </a:t>
            </a:r>
            <a:endParaRPr lang="en-US" altLang="en-US" sz="2400">
              <a:solidFill>
                <a:srgbClr val="000000"/>
              </a:solidFill>
              <a:latin typeface="Times New Roman" panose="02020603050405020304" pitchFamily="18" charset="0"/>
            </a:endParaRPr>
          </a:p>
          <a:p>
            <a:pPr algn="just">
              <a:lnSpc>
                <a:spcPct val="150000"/>
              </a:lnSpc>
            </a:pPr>
            <a:r>
              <a:rPr lang="en-US" altLang="en-US" sz="2400">
                <a:solidFill>
                  <a:srgbClr val="000000"/>
                </a:solidFill>
                <a:latin typeface="Times New Roman" panose="02020603050405020304" pitchFamily="18" charset="0"/>
              </a:rPr>
              <a:t>Primary side phase voltage is equal to secondary side phase voltage. </a:t>
            </a:r>
            <a:endParaRPr lang="en-US" altLang="en-US" sz="2400">
              <a:solidFill>
                <a:srgbClr val="000000"/>
              </a:solidFill>
              <a:latin typeface="Times New Roman" panose="02020603050405020304" pitchFamily="18" charset="0"/>
            </a:endParaRPr>
          </a:p>
          <a:p>
            <a:pPr algn="just">
              <a:lnSpc>
                <a:spcPct val="150000"/>
              </a:lnSpc>
            </a:pPr>
            <a:r>
              <a:rPr lang="en-US" altLang="en-US" sz="2400">
                <a:solidFill>
                  <a:srgbClr val="000000"/>
                </a:solidFill>
                <a:latin typeface="Times New Roman" panose="02020603050405020304" pitchFamily="18" charset="0"/>
              </a:rPr>
              <a:t>There is no phase shift between primary and secondary voltages for Dd0 connection.</a:t>
            </a:r>
            <a:endParaRPr lang="en-US" altLang="en-US" sz="2400">
              <a:solidFill>
                <a:srgbClr val="000000"/>
              </a:solidFill>
              <a:latin typeface="Times New Roman" panose="02020603050405020304" pitchFamily="18" charset="0"/>
            </a:endParaRPr>
          </a:p>
          <a:p>
            <a:pPr algn="just">
              <a:lnSpc>
                <a:spcPct val="150000"/>
              </a:lnSpc>
            </a:pPr>
            <a:r>
              <a:rPr lang="en-US" altLang="en-US" sz="2400">
                <a:solidFill>
                  <a:srgbClr val="000000"/>
                </a:solidFill>
                <a:latin typeface="Times New Roman" panose="02020603050405020304" pitchFamily="18" charset="0"/>
              </a:rPr>
              <a:t>There is 180</a:t>
            </a:r>
            <a:r>
              <a:rPr lang="en-US" altLang="en-US" sz="2400" baseline="30000">
                <a:solidFill>
                  <a:srgbClr val="000000"/>
                </a:solidFill>
                <a:latin typeface="Times New Roman" panose="02020603050405020304" pitchFamily="18" charset="0"/>
              </a:rPr>
              <a:t>o</a:t>
            </a:r>
            <a:r>
              <a:rPr lang="en-US" altLang="en-US" sz="2400">
                <a:solidFill>
                  <a:srgbClr val="000000"/>
                </a:solidFill>
                <a:latin typeface="Times New Roman" panose="02020603050405020304" pitchFamily="18" charset="0"/>
              </a:rPr>
              <a:t> phase shift between primary and secondary voltages for Dd6 connection. </a:t>
            </a:r>
            <a:endParaRPr lang="en-US" altLang="en-US"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1082675" y="190500"/>
            <a:ext cx="9945688" cy="582613"/>
          </a:xfrm>
        </p:spPr>
        <p:txBody>
          <a:bodyPr>
            <a:normAutofit fontScale="90000"/>
          </a:bodyPr>
          <a:lstStyle/>
          <a:p>
            <a:pPr algn="ctr"/>
            <a:r>
              <a:rPr lang="en-US" altLang="en-US"/>
              <a:t>Advantages</a:t>
            </a:r>
            <a:endParaRPr lang="en-US" altLang="en-US"/>
          </a:p>
        </p:txBody>
      </p:sp>
      <p:sp>
        <p:nvSpPr>
          <p:cNvPr id="22531" name="Content Placeholder 2"/>
          <p:cNvSpPr>
            <a:spLocks noGrp="1"/>
          </p:cNvSpPr>
          <p:nvPr>
            <p:ph idx="1"/>
          </p:nvPr>
        </p:nvSpPr>
        <p:spPr>
          <a:xfrm>
            <a:off x="1082675" y="992188"/>
            <a:ext cx="9945688" cy="5978525"/>
          </a:xfrm>
        </p:spPr>
        <p:txBody>
          <a:bodyPr>
            <a:normAutofit lnSpcReduction="10000"/>
          </a:bodyPr>
          <a:lstStyle/>
          <a:p>
            <a:pPr algn="just">
              <a:lnSpc>
                <a:spcPct val="150000"/>
              </a:lnSpc>
            </a:pPr>
            <a:r>
              <a:rPr lang="en-US" altLang="en-US" sz="2000" b="1">
                <a:solidFill>
                  <a:srgbClr val="000000"/>
                </a:solidFill>
                <a:latin typeface="Times New Roman" panose="02020603050405020304" pitchFamily="18" charset="0"/>
                <a:cs typeface="Times New Roman" panose="02020603050405020304" pitchFamily="18" charset="0"/>
              </a:rPr>
              <a:t>Sinusoidal Voltage at Secondary: </a:t>
            </a:r>
            <a:r>
              <a:rPr lang="en-US" altLang="en-US" sz="2000">
                <a:solidFill>
                  <a:srgbClr val="000000"/>
                </a:solidFill>
                <a:latin typeface="Times New Roman" panose="02020603050405020304" pitchFamily="18" charset="0"/>
                <a:cs typeface="Times New Roman" panose="02020603050405020304" pitchFamily="18" charset="0"/>
              </a:rPr>
              <a:t>In order to get secondary voltage as sinusoidal, the magnetizing current of transformer must contain a third harmonic component. </a:t>
            </a:r>
            <a:endParaRPr lang="en-US" altLang="en-US" sz="2000">
              <a:solidFill>
                <a:srgbClr val="000000"/>
              </a:solidFill>
              <a:latin typeface="Times New Roman" panose="02020603050405020304" pitchFamily="18" charset="0"/>
              <a:cs typeface="Times New Roman" panose="02020603050405020304" pitchFamily="18" charset="0"/>
            </a:endParaRPr>
          </a:p>
          <a:p>
            <a:pPr algn="just">
              <a:lnSpc>
                <a:spcPct val="150000"/>
              </a:lnSpc>
            </a:pPr>
            <a:r>
              <a:rPr lang="en-US" altLang="en-US" sz="2000">
                <a:solidFill>
                  <a:srgbClr val="000000"/>
                </a:solidFill>
                <a:latin typeface="Times New Roman" panose="02020603050405020304" pitchFamily="18" charset="0"/>
                <a:cs typeface="Times New Roman" panose="02020603050405020304" pitchFamily="18" charset="0"/>
              </a:rPr>
              <a:t>The delta connection provides a closed path for circulation of third harmonic component of current. </a:t>
            </a:r>
            <a:endParaRPr lang="en-US" altLang="en-US" sz="2000">
              <a:solidFill>
                <a:srgbClr val="000000"/>
              </a:solidFill>
              <a:latin typeface="Times New Roman" panose="02020603050405020304" pitchFamily="18" charset="0"/>
              <a:cs typeface="Times New Roman" panose="02020603050405020304" pitchFamily="18" charset="0"/>
            </a:endParaRPr>
          </a:p>
          <a:p>
            <a:pPr algn="just">
              <a:lnSpc>
                <a:spcPct val="150000"/>
              </a:lnSpc>
            </a:pPr>
            <a:r>
              <a:rPr lang="en-US" altLang="en-US" sz="2000">
                <a:solidFill>
                  <a:srgbClr val="000000"/>
                </a:solidFill>
                <a:latin typeface="Times New Roman" panose="02020603050405020304" pitchFamily="18" charset="0"/>
                <a:cs typeface="Times New Roman" panose="02020603050405020304" pitchFamily="18" charset="0"/>
              </a:rPr>
              <a:t>The flux remains sinusoidal which results in sinusoidal voltages. </a:t>
            </a:r>
            <a:endParaRPr lang="en-US" altLang="en-US" sz="2000">
              <a:solidFill>
                <a:srgbClr val="000000"/>
              </a:solidFill>
              <a:latin typeface="Times New Roman" panose="02020603050405020304" pitchFamily="18" charset="0"/>
              <a:cs typeface="Times New Roman" panose="02020603050405020304" pitchFamily="18" charset="0"/>
            </a:endParaRPr>
          </a:p>
          <a:p>
            <a:pPr algn="just">
              <a:lnSpc>
                <a:spcPct val="150000"/>
              </a:lnSpc>
            </a:pPr>
            <a:r>
              <a:rPr lang="en-US" altLang="en-US" sz="2000" b="1">
                <a:solidFill>
                  <a:srgbClr val="000000"/>
                </a:solidFill>
                <a:latin typeface="Times New Roman" panose="02020603050405020304" pitchFamily="18" charset="0"/>
                <a:cs typeface="Times New Roman" panose="02020603050405020304" pitchFamily="18" charset="0"/>
              </a:rPr>
              <a:t>Suitable for Unbalanced Load: </a:t>
            </a:r>
            <a:r>
              <a:rPr lang="en-US" altLang="en-US" sz="2000">
                <a:solidFill>
                  <a:srgbClr val="000000"/>
                </a:solidFill>
                <a:latin typeface="Times New Roman" panose="02020603050405020304" pitchFamily="18" charset="0"/>
                <a:cs typeface="Times New Roman" panose="02020603050405020304" pitchFamily="18" charset="0"/>
              </a:rPr>
              <a:t>Even if the load is unbalanced the three phase voltages remains constant. </a:t>
            </a:r>
            <a:endParaRPr lang="en-US" altLang="en-US" sz="2000">
              <a:solidFill>
                <a:srgbClr val="000000"/>
              </a:solidFill>
              <a:latin typeface="Times New Roman" panose="02020603050405020304" pitchFamily="18" charset="0"/>
              <a:cs typeface="Times New Roman" panose="02020603050405020304" pitchFamily="18" charset="0"/>
            </a:endParaRPr>
          </a:p>
          <a:p>
            <a:pPr algn="just">
              <a:lnSpc>
                <a:spcPct val="150000"/>
              </a:lnSpc>
            </a:pPr>
            <a:r>
              <a:rPr lang="en-US" altLang="en-US" sz="2000">
                <a:solidFill>
                  <a:srgbClr val="000000"/>
                </a:solidFill>
                <a:latin typeface="Times New Roman" panose="02020603050405020304" pitchFamily="18" charset="0"/>
                <a:cs typeface="Times New Roman" panose="02020603050405020304" pitchFamily="18" charset="0"/>
              </a:rPr>
              <a:t>Thus it suitable for unbalanced loading also. </a:t>
            </a:r>
            <a:endParaRPr lang="en-US" altLang="en-US" sz="2000">
              <a:solidFill>
                <a:srgbClr val="000000"/>
              </a:solidFill>
              <a:latin typeface="Times New Roman" panose="02020603050405020304" pitchFamily="18" charset="0"/>
              <a:cs typeface="Times New Roman" panose="02020603050405020304" pitchFamily="18" charset="0"/>
            </a:endParaRPr>
          </a:p>
          <a:p>
            <a:pPr algn="just">
              <a:lnSpc>
                <a:spcPct val="150000"/>
              </a:lnSpc>
            </a:pPr>
            <a:r>
              <a:rPr lang="en-US" altLang="en-US" sz="2000" b="1">
                <a:solidFill>
                  <a:srgbClr val="000000"/>
                </a:solidFill>
                <a:latin typeface="Times New Roman" panose="02020603050405020304" pitchFamily="18" charset="0"/>
                <a:cs typeface="Times New Roman" panose="02020603050405020304" pitchFamily="18" charset="0"/>
              </a:rPr>
              <a:t>Carry 58% Load if One Transfer is Faulty in Transformer Bank</a:t>
            </a:r>
            <a:r>
              <a:rPr lang="en-US" altLang="en-US" sz="2000">
                <a:solidFill>
                  <a:srgbClr val="000000"/>
                </a:solidFill>
                <a:latin typeface="Times New Roman" panose="02020603050405020304" pitchFamily="18" charset="0"/>
                <a:cs typeface="Times New Roman" panose="02020603050405020304" pitchFamily="18" charset="0"/>
              </a:rPr>
              <a:t>: If there is bank of single phase transformers connected in delta-delta fashion and if one of the transformers is disabled then the supply can be continued with remaining two transformers of course with reduced efficiency</a:t>
            </a:r>
            <a:r>
              <a:rPr lang="en-US" altLang="en-US" sz="2100">
                <a:solidFill>
                  <a:srgbClr val="000000"/>
                </a:solidFill>
                <a:latin typeface="Times New Roman" panose="02020603050405020304" pitchFamily="18" charset="0"/>
              </a:rPr>
              <a:t>. </a:t>
            </a:r>
            <a:endParaRPr lang="en-US" altLang="en-US" sz="2100">
              <a:solidFill>
                <a:srgbClr val="000000"/>
              </a:solidFill>
              <a:latin typeface="Times New Roman" panose="02020603050405020304" pitchFamily="18" charset="0"/>
            </a:endParaRPr>
          </a:p>
          <a:p>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055688" y="190500"/>
            <a:ext cx="9931400" cy="582613"/>
          </a:xfrm>
        </p:spPr>
        <p:txBody>
          <a:bodyPr>
            <a:normAutofit fontScale="90000"/>
          </a:bodyPr>
          <a:lstStyle/>
          <a:p>
            <a:pPr algn="ctr"/>
            <a:r>
              <a:rPr lang="en-US" altLang="en-US"/>
              <a:t>advantages</a:t>
            </a:r>
            <a:endParaRPr lang="en-US" altLang="en-US"/>
          </a:p>
        </p:txBody>
      </p:sp>
      <p:sp>
        <p:nvSpPr>
          <p:cNvPr id="23555" name="Content Placeholder 2"/>
          <p:cNvSpPr>
            <a:spLocks noGrp="1"/>
          </p:cNvSpPr>
          <p:nvPr>
            <p:ph idx="1"/>
          </p:nvPr>
        </p:nvSpPr>
        <p:spPr>
          <a:xfrm>
            <a:off x="1055688" y="1174750"/>
            <a:ext cx="9931400" cy="5408613"/>
          </a:xfrm>
        </p:spPr>
        <p:txBody>
          <a:bodyPr>
            <a:normAutofit lnSpcReduction="10000"/>
          </a:bodyPr>
          <a:lstStyle/>
          <a:p>
            <a:pPr algn="just"/>
            <a:r>
              <a:rPr lang="en-US" altLang="en-US" sz="2100" b="1">
                <a:solidFill>
                  <a:srgbClr val="000000"/>
                </a:solidFill>
                <a:latin typeface="Times New Roman" panose="02020603050405020304" pitchFamily="18" charset="0"/>
                <a:cs typeface="Times New Roman" panose="02020603050405020304" pitchFamily="18" charset="0"/>
              </a:rPr>
              <a:t>No Distortion in Secondary Voltage</a:t>
            </a:r>
            <a:r>
              <a:rPr lang="en-US" altLang="en-US" sz="2100">
                <a:solidFill>
                  <a:srgbClr val="000000"/>
                </a:solidFill>
                <a:latin typeface="Times New Roman" panose="02020603050405020304" pitchFamily="18" charset="0"/>
                <a:cs typeface="Times New Roman" panose="02020603050405020304" pitchFamily="18" charset="0"/>
              </a:rPr>
              <a:t>: there is no any phase displacement between primary and secondary voltages. </a:t>
            </a:r>
            <a:endParaRPr lang="en-US" altLang="en-US" sz="2100">
              <a:solidFill>
                <a:srgbClr val="000000"/>
              </a:solidFill>
              <a:latin typeface="Times New Roman" panose="02020603050405020304" pitchFamily="18" charset="0"/>
              <a:cs typeface="Times New Roman" panose="02020603050405020304" pitchFamily="18" charset="0"/>
            </a:endParaRPr>
          </a:p>
          <a:p>
            <a:pPr algn="just"/>
            <a:r>
              <a:rPr lang="en-US" altLang="en-US" sz="2100">
                <a:solidFill>
                  <a:srgbClr val="000000"/>
                </a:solidFill>
                <a:latin typeface="Times New Roman" panose="02020603050405020304" pitchFamily="18" charset="0"/>
                <a:cs typeface="Times New Roman" panose="02020603050405020304" pitchFamily="18" charset="0"/>
              </a:rPr>
              <a:t>There is no distortion of flux as the third harmonic component of magnetizing current can flow in the delta connected primary windings without flowing in the line wires thus there is no distortion in the secondary voltages.</a:t>
            </a:r>
            <a:endParaRPr lang="en-US" altLang="en-US" sz="2100">
              <a:solidFill>
                <a:srgbClr val="000000"/>
              </a:solidFill>
              <a:latin typeface="Times New Roman" panose="02020603050405020304" pitchFamily="18" charset="0"/>
              <a:cs typeface="Times New Roman" panose="02020603050405020304" pitchFamily="18" charset="0"/>
            </a:endParaRPr>
          </a:p>
          <a:p>
            <a:pPr algn="just"/>
            <a:r>
              <a:rPr lang="en-US" altLang="en-US" sz="2100">
                <a:solidFill>
                  <a:srgbClr val="000000"/>
                </a:solidFill>
                <a:latin typeface="Times New Roman" panose="02020603050405020304" pitchFamily="18" charset="0"/>
                <a:cs typeface="Times New Roman" panose="02020603050405020304" pitchFamily="18" charset="0"/>
              </a:rPr>
              <a:t> </a:t>
            </a:r>
            <a:endParaRPr lang="en-US" altLang="en-US" sz="2100">
              <a:solidFill>
                <a:srgbClr val="000000"/>
              </a:solidFill>
              <a:latin typeface="Times New Roman" panose="02020603050405020304" pitchFamily="18" charset="0"/>
              <a:cs typeface="Times New Roman" panose="02020603050405020304" pitchFamily="18" charset="0"/>
            </a:endParaRPr>
          </a:p>
          <a:p>
            <a:pPr algn="just"/>
            <a:r>
              <a:rPr lang="en-US" altLang="en-US" sz="2100" b="1">
                <a:solidFill>
                  <a:srgbClr val="000000"/>
                </a:solidFill>
                <a:latin typeface="Times New Roman" panose="02020603050405020304" pitchFamily="18" charset="0"/>
                <a:cs typeface="Times New Roman" panose="02020603050405020304" pitchFamily="18" charset="0"/>
              </a:rPr>
              <a:t>Economical for Low Voltage: </a:t>
            </a:r>
            <a:r>
              <a:rPr lang="en-US" altLang="en-US" sz="2100">
                <a:solidFill>
                  <a:srgbClr val="000000"/>
                </a:solidFill>
                <a:latin typeface="Times New Roman" panose="02020603050405020304" pitchFamily="18" charset="0"/>
                <a:cs typeface="Times New Roman" panose="02020603050405020304" pitchFamily="18" charset="0"/>
              </a:rPr>
              <a:t>Due to delta connection, phase voltage is same as line voltage hence winding have more number of turns. But phase current is (1/√3) times the line current. Hence the cross-section of the windings is very less. This makes the connection economical for low voltages transformers. </a:t>
            </a:r>
            <a:endParaRPr lang="en-US" altLang="en-US" sz="2100">
              <a:solidFill>
                <a:srgbClr val="000000"/>
              </a:solidFill>
              <a:latin typeface="Times New Roman" panose="02020603050405020304" pitchFamily="18" charset="0"/>
              <a:cs typeface="Times New Roman" panose="02020603050405020304" pitchFamily="18" charset="0"/>
            </a:endParaRPr>
          </a:p>
          <a:p>
            <a:pPr algn="just"/>
            <a:endParaRPr lang="en-US" altLang="en-US" sz="2100">
              <a:solidFill>
                <a:srgbClr val="000000"/>
              </a:solidFill>
              <a:latin typeface="Times New Roman" panose="02020603050405020304" pitchFamily="18" charset="0"/>
              <a:cs typeface="Times New Roman" panose="02020603050405020304" pitchFamily="18" charset="0"/>
            </a:endParaRPr>
          </a:p>
          <a:p>
            <a:pPr algn="just"/>
            <a:r>
              <a:rPr lang="en-US" altLang="en-US" sz="2100" b="1">
                <a:solidFill>
                  <a:srgbClr val="000000"/>
                </a:solidFill>
                <a:latin typeface="Times New Roman" panose="02020603050405020304" pitchFamily="18" charset="0"/>
                <a:cs typeface="Times New Roman" panose="02020603050405020304" pitchFamily="18" charset="0"/>
              </a:rPr>
              <a:t>Reduce Cross section of Conductor: </a:t>
            </a:r>
            <a:r>
              <a:rPr lang="en-US" altLang="en-US" sz="2100">
                <a:solidFill>
                  <a:srgbClr val="000000"/>
                </a:solidFill>
                <a:latin typeface="Times New Roman" panose="02020603050405020304" pitchFamily="18" charset="0"/>
                <a:cs typeface="Times New Roman" panose="02020603050405020304" pitchFamily="18" charset="0"/>
              </a:rPr>
              <a:t>The conductor is required of smaller cross section as the phase current is 1/√3 times of the line current. It increases number of turns per phase and reduces the necessary cross sectional area of conductors thus insulation problem is not present. </a:t>
            </a:r>
            <a:endParaRPr lang="en-US" altLang="en-US" sz="2100">
              <a:solidFill>
                <a:srgbClr val="000000"/>
              </a:solidFill>
              <a:latin typeface="Times New Roman" panose="02020603050405020304" pitchFamily="18" charset="0"/>
              <a:cs typeface="Times New Roman" panose="02020603050405020304" pitchFamily="18" charset="0"/>
            </a:endParaRPr>
          </a:p>
          <a:p>
            <a:pPr algn="just"/>
            <a:endParaRPr lang="en-US" altLang="en-US" sz="2100">
              <a:solidFill>
                <a:srgbClr val="000000"/>
              </a:solidFill>
              <a:latin typeface="Times New Roman" panose="02020603050405020304" pitchFamily="18" charset="0"/>
              <a:cs typeface="Times New Roman" panose="02020603050405020304" pitchFamily="18" charset="0"/>
            </a:endParaRPr>
          </a:p>
          <a:p>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055688" y="190500"/>
            <a:ext cx="10526712" cy="582613"/>
          </a:xfrm>
        </p:spPr>
        <p:txBody>
          <a:bodyPr/>
          <a:lstStyle/>
          <a:p>
            <a:r>
              <a:rPr lang="en-US" altLang="en-US" sz="3200">
                <a:latin typeface="Times New Roman" panose="02020603050405020304" pitchFamily="18" charset="0"/>
                <a:cs typeface="Times New Roman" panose="02020603050405020304" pitchFamily="18" charset="0"/>
              </a:rPr>
              <a:t>Disadvantages</a:t>
            </a:r>
            <a:endParaRPr lang="en-US" alt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55688" y="1174750"/>
            <a:ext cx="10058400" cy="5549900"/>
          </a:xfrm>
        </p:spPr>
        <p:txBody>
          <a:bodyPr>
            <a:normAutofit lnSpcReduction="10000"/>
          </a:bodyPr>
          <a:lstStyle/>
          <a:p>
            <a:pPr algn="just">
              <a:lnSpc>
                <a:spcPct val="150000"/>
              </a:lnSpc>
              <a:defRPr/>
            </a:pPr>
            <a:r>
              <a:rPr lang="en-US" sz="2200" dirty="0">
                <a:solidFill>
                  <a:srgbClr val="000000"/>
                </a:solidFill>
                <a:latin typeface="Times New Roman" panose="02020603050405020304" pitchFamily="18" charset="0"/>
              </a:rPr>
              <a:t>Due to the absence of neutral point it is not suitable for three phase four wire system. </a:t>
            </a:r>
            <a:endParaRPr lang="en-US" sz="2200" dirty="0">
              <a:solidFill>
                <a:srgbClr val="000000"/>
              </a:solidFill>
              <a:latin typeface="Times New Roman" panose="02020603050405020304" pitchFamily="18" charset="0"/>
            </a:endParaRPr>
          </a:p>
          <a:p>
            <a:pPr algn="just">
              <a:lnSpc>
                <a:spcPct val="150000"/>
              </a:lnSpc>
              <a:defRPr/>
            </a:pPr>
            <a:r>
              <a:rPr lang="en-US" sz="2200" dirty="0">
                <a:solidFill>
                  <a:srgbClr val="000000"/>
                </a:solidFill>
                <a:latin typeface="Times New Roman" panose="02020603050405020304" pitchFamily="18" charset="0"/>
              </a:rPr>
              <a:t>More insulation is required and the voltage appearing between windings and core will be equal to full line voltage in case of earth fault on one phase. </a:t>
            </a:r>
            <a:endParaRPr lang="en-US" sz="2200" dirty="0">
              <a:solidFill>
                <a:srgbClr val="000000"/>
              </a:solidFill>
              <a:latin typeface="Times New Roman" panose="02020603050405020304" pitchFamily="18" charset="0"/>
            </a:endParaRPr>
          </a:p>
          <a:p>
            <a:pPr marL="0" indent="0" algn="just">
              <a:lnSpc>
                <a:spcPct val="150000"/>
              </a:lnSpc>
              <a:buFontTx/>
              <a:buNone/>
              <a:defRPr/>
            </a:pPr>
            <a:r>
              <a:rPr lang="en-US" sz="2400" b="1" i="1" dirty="0">
                <a:solidFill>
                  <a:srgbClr val="000000"/>
                </a:solidFill>
                <a:latin typeface="Times New Roman" panose="02020603050405020304" pitchFamily="18" charset="0"/>
              </a:rPr>
              <a:t>Application </a:t>
            </a:r>
            <a:endParaRPr lang="en-US" sz="2400" dirty="0">
              <a:solidFill>
                <a:srgbClr val="000000"/>
              </a:solidFill>
              <a:latin typeface="Times New Roman" panose="02020603050405020304" pitchFamily="18" charset="0"/>
            </a:endParaRPr>
          </a:p>
          <a:p>
            <a:pPr algn="just">
              <a:lnSpc>
                <a:spcPct val="150000"/>
              </a:lnSpc>
              <a:defRPr/>
            </a:pPr>
            <a:r>
              <a:rPr lang="en-US" sz="2200" dirty="0">
                <a:solidFill>
                  <a:srgbClr val="000000"/>
                </a:solidFill>
                <a:latin typeface="Times New Roman" panose="02020603050405020304" pitchFamily="18" charset="0"/>
              </a:rPr>
              <a:t>Suitable for large, low voltage transformers. </a:t>
            </a:r>
            <a:endParaRPr lang="en-US" sz="2200" dirty="0">
              <a:solidFill>
                <a:srgbClr val="000000"/>
              </a:solidFill>
              <a:latin typeface="Times New Roman" panose="02020603050405020304" pitchFamily="18" charset="0"/>
            </a:endParaRPr>
          </a:p>
          <a:p>
            <a:pPr algn="just">
              <a:lnSpc>
                <a:spcPct val="150000"/>
              </a:lnSpc>
              <a:defRPr/>
            </a:pPr>
            <a:r>
              <a:rPr lang="en-US" sz="2200" dirty="0">
                <a:solidFill>
                  <a:srgbClr val="000000"/>
                </a:solidFill>
                <a:latin typeface="Times New Roman" panose="02020603050405020304" pitchFamily="18" charset="0"/>
              </a:rPr>
              <a:t>This Type of Connection is normally uncommon but used in some industrial facilities to reduce impact of SLG faults on the primary system </a:t>
            </a:r>
            <a:endParaRPr lang="en-US" sz="2200" dirty="0">
              <a:solidFill>
                <a:srgbClr val="000000"/>
              </a:solidFill>
              <a:latin typeface="Times New Roman" panose="02020603050405020304" pitchFamily="18" charset="0"/>
            </a:endParaRPr>
          </a:p>
          <a:p>
            <a:pPr algn="just">
              <a:lnSpc>
                <a:spcPct val="150000"/>
              </a:lnSpc>
              <a:defRPr/>
            </a:pPr>
            <a:r>
              <a:rPr lang="en-US" sz="2200" dirty="0">
                <a:solidFill>
                  <a:srgbClr val="000000"/>
                </a:solidFill>
                <a:latin typeface="Times New Roman" panose="02020603050405020304" pitchFamily="18" charset="0"/>
              </a:rPr>
              <a:t>It is generally used in systems where it need to be carry large currents on low voltages and especially when continuity of service is to be maintained even though one of the phases develops fault. </a:t>
            </a:r>
            <a:endParaRPr lang="en-US" sz="2200" dirty="0">
              <a:solidFill>
                <a:srgbClr val="000000"/>
              </a:solidFill>
              <a:latin typeface="Times New Roman" panose="02020603050405020304" pitchFamily="18" charset="0"/>
            </a:endParaRPr>
          </a:p>
          <a:p>
            <a:pPr>
              <a:defRPr/>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9557</Words>
  <Application>WPS Presentation</Application>
  <PresentationFormat>Widescreen</PresentationFormat>
  <Paragraphs>155</Paragraphs>
  <Slides>21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21</vt:i4>
      </vt:variant>
    </vt:vector>
  </HeadingPairs>
  <TitlesOfParts>
    <vt:vector size="35" baseType="lpstr">
      <vt:lpstr>Arial</vt:lpstr>
      <vt:lpstr>SimSun</vt:lpstr>
      <vt:lpstr>Wingdings</vt:lpstr>
      <vt:lpstr>Calibri Light</vt:lpstr>
      <vt:lpstr>Calibri</vt:lpstr>
      <vt:lpstr>Microsoft YaHei</vt:lpstr>
      <vt:lpstr>Arial Unicode MS</vt:lpstr>
      <vt:lpstr>Times New Roman</vt:lpstr>
      <vt:lpstr>Symbol</vt:lpstr>
      <vt:lpstr>Wingdings 2</vt:lpstr>
      <vt:lpstr>Constantia</vt:lpstr>
      <vt:lpstr>Wingdings 2</vt:lpstr>
      <vt:lpstr>Constantia</vt:lpstr>
      <vt:lpstr>Office Theme</vt:lpstr>
      <vt:lpstr>PowerPoint 演示文稿</vt:lpstr>
      <vt:lpstr>Three Phase Transformers</vt:lpstr>
      <vt:lpstr>One unit 3phase Transformer</vt:lpstr>
      <vt:lpstr>PowerPoint 演示文稿</vt:lpstr>
      <vt:lpstr>Advantages of 3 phase transformers</vt:lpstr>
      <vt:lpstr>Three-Phase Transformer Connections</vt:lpstr>
      <vt:lpstr>Three-Phase Transformer Connections</vt:lpstr>
      <vt:lpstr>Three-Phase Transformer Connections</vt:lpstr>
      <vt:lpstr>Y-Y Connection</vt:lpstr>
      <vt:lpstr>D-D Connection.  </vt:lpstr>
      <vt:lpstr>Combined connections</vt:lpstr>
      <vt:lpstr>Practice Question</vt:lpstr>
      <vt:lpstr>Solution</vt:lpstr>
      <vt:lpstr>Vector Group of 3-phase transformer</vt:lpstr>
      <vt:lpstr>Clock convention representing vector groups</vt:lpstr>
      <vt:lpstr>Delta/delta (Dd0, Dd6) connection</vt:lpstr>
      <vt:lpstr>Delta/delta (Dd6) connection</vt:lpstr>
      <vt:lpstr>PowerPoint 演示文稿</vt:lpstr>
      <vt:lpstr>Advantages</vt:lpstr>
      <vt:lpstr>advantages</vt:lpstr>
      <vt:lpstr>Disadvantages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EEE 3207 ELECTRICAL MACHINES 2</dc:title>
  <dc:creator/>
  <cp:lastModifiedBy>Dorothy Gicheru</cp:lastModifiedBy>
  <cp:revision>1</cp:revision>
  <dcterms:created xsi:type="dcterms:W3CDTF">2025-09-09T08:20:59Z</dcterms:created>
  <dcterms:modified xsi:type="dcterms:W3CDTF">2025-09-09T08:20:59Z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ABC7F940FF394EB4A2BCB12A93A248D8_11</vt:lpwstr>
  </property>
  <property fmtid="{D5CDD505-2E9C-101B-9397-08002B2CF9AE}" pid="3" name="KSOProductBuildVer">
    <vt:lpwstr>1033-12.2.0.21931</vt:lpwstr>
  </property>
</Properties>
</file>